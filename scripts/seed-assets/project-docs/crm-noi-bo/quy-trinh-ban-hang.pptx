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vi-VN">
                <a:solidFill>
                  <a:srgbClr val="12343B"/>
                </a:solidFill>
                <a:latin typeface="Arial"/>
              </a:rPr>
              <a:t>Doanh số quý III/2026 (triệu đồng)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số (triệu đồng)</c:v>
                </c:pt>
              </c:strCache>
            </c:strRef>
          </c:tx>
          <c:spPr>
            <a:solidFill>
              <a:srgbClr val="1B6F6A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 i="0" lang="vi-VN">
                        <a:solidFill>
                          <a:srgbClr val="1E2A2E"/>
                        </a:solidFill>
                        <a:latin typeface="Arial"/>
                      </a:rPr>
                      <a:t>1.240</a:t>
                    </a:r>
                  </a:p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9 deal thắng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 i="0" lang="vi-VN">
                        <a:solidFill>
                          <a:srgbClr val="1E2A2E"/>
                        </a:solidFill>
                        <a:latin typeface="Arial"/>
                      </a:rPr>
                      <a:t>1.385</a:t>
                    </a:r>
                  </a:p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11 deal thắng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 i="0" lang="vi-VN">
                        <a:solidFill>
                          <a:srgbClr val="1E2A2E"/>
                        </a:solidFill>
                        <a:latin typeface="Arial"/>
                      </a:rPr>
                      <a:t>1.610</a:t>
                    </a:r>
                  </a:p>
                  <a:p>
                    <a:r>
                      <a:rPr sz="1100" b="0" i="0" lang="vi-VN">
                        <a:solidFill>
                          <a:srgbClr val="1E2A2E"/>
                        </a:solidFill>
                        <a:latin typeface="Arial"/>
                      </a:rPr>
                      <a:t>14 deal thắng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Tháng 7</c:v>
                </c:pt>
                <c:pt idx="1">
                  <c:v>Tháng 8</c:v>
                </c:pt>
                <c:pt idx="2">
                  <c:v>Tháng 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1240</c:v>
                </c:pt>
                <c:pt idx="1">
                  <c:v>1385</c:v>
                </c:pt>
                <c:pt idx="2">
                  <c:v>1610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6D3"/>
            </a:solidFill>
          </a:ln>
        </c:spPr>
        <c:txPr>
          <a:bodyPr/>
          <a:lstStyle/>
          <a:p>
            <a:pPr>
              <a:defRPr sz="1200">
                <a:solidFill>
                  <a:srgbClr val="1E2A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.0"/>
          <c:min val="0.0"/>
        </c:scaling>
        <c:delete val="0"/>
        <c:axPos val="l"/>
        <c:majorGridlines>
          <c:spPr>
            <a:ln w="9525">
              <a:solidFill>
                <a:srgbClr val="DDE5E3"/>
              </a:solidFill>
            </a:ln>
          </c:spPr>
        </c:majorGridlines>
        <c:numFmt formatCode="[&gt;=1000]#\.##0;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F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F6F7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tiêu: sau buổi này nhân viên mới tự tạo, cập nhật và đóng deal đúng quy trình.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Mở web-app ECAP, vào Trang chủ &gt; Khách hàng. Mọi thao tác CRM đều trên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Số liệu minh hoạ. Số deal Hoàn thành khớp với báo cáo KPI quý.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Tên giai đoạn đúng như trên giao diện; mã hệ thống dùng khi xuất dữ liệu hoặc đọc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Hệ thống kiểm tra quy tắc ở máy chủ: kéo một deal đã đóng sang cột khác sẽ bị từ chối.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Trưởng phòng rà soát pipeline mỗi sáng thứ Hai theo các quy tắc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Dán mẫu vào ô 'Ghi chú &amp; Loại khách hàng' khi thêm hoặc sửa khách hàng.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Quyền do Quản trị tổ chức cấu hình tại mục Vai trò &amp; Phân quyền.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Doanh số và deal thắng theo dõi trên trang Báo cáo &amp; Phân tích. Số liệu minh hoạ.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11680"/>
            <a:ext cx="9692640" cy="173736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000" b="1" i="0" lang="vi-VN">
                <a:solidFill>
                  <a:srgbClr val="FFFFFF"/>
                </a:solidFill>
                <a:latin typeface="Arial"/>
              </a:rPr>
              <a:t>Quy trình bán hàng và quản lý pipeline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 lang="vi-VN">
                <a:solidFill>
                  <a:srgbClr val="CFE3DF"/>
                </a:solidFill>
                <a:latin typeface="Arial"/>
              </a:rPr>
              <a:t>Tài liệu hội nhập cho nhân viên kinh doanh mới — phân hệ Khách hàng trên ECAP</a:t>
            </a:r>
          </a:p>
        </p:txBody>
      </p:sp>
      <p:sp>
        <p:nvSpPr>
          <p:cNvPr id="6" name="Huy hiệu SME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 lang="vi-VN">
                <a:solidFill>
                  <a:srgbClr val="12343B"/>
                </a:solidFill>
                <a:latin typeface="Arial"/>
              </a:rPr>
              <a:t>SME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3444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Công ty Demo 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B9CFCB"/>
                </a:solidFill>
                <a:latin typeface="Arial"/>
              </a:rPr>
              <a:t>Dự án Triển khai CRM nội bộ · 26/10/2026 · Phòng Kinh doanh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Nội dung trình bày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2</a:t>
            </a:fld>
          </a:p>
        </p:txBody>
      </p:sp>
      <p:sp>
        <p:nvSpPr>
          <p:cNvPr id="5" name="Mục 1"/>
          <p:cNvSpPr/>
          <p:nvPr/>
        </p:nvSpPr>
        <p:spPr>
          <a:xfrm>
            <a:off x="548640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Công cụ làm việc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Phân hệ Khách hàng trên web-app ECAP</a:t>
            </a:r>
          </a:p>
        </p:txBody>
      </p:sp>
      <p:sp>
        <p:nvSpPr>
          <p:cNvPr id="8" name="Mục 2"/>
          <p:cNvSpPr/>
          <p:nvPr/>
        </p:nvSpPr>
        <p:spPr>
          <a:xfrm>
            <a:off x="548640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uy hiệu 2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Phễu bán hàng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Từ deal Mới đến Hoàn thành</a:t>
            </a:r>
          </a:p>
        </p:txBody>
      </p:sp>
      <p:sp>
        <p:nvSpPr>
          <p:cNvPr id="11" name="Mục 3"/>
          <p:cNvSpPr/>
          <p:nvPr/>
        </p:nvSpPr>
        <p:spPr>
          <a:xfrm>
            <a:off x="548640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uy hiệu 3"/>
          <p:cNvSpPr/>
          <p:nvPr/>
        </p:nvSpPr>
        <p:spPr>
          <a:xfrm>
            <a:off x="777240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Định nghĩa giai đoạn deal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Khi nào vào, việc gì phải làm</a:t>
            </a:r>
          </a:p>
        </p:txBody>
      </p:sp>
      <p:sp>
        <p:nvSpPr>
          <p:cNvPr id="14" name="Mục 4"/>
          <p:cNvSpPr/>
          <p:nvPr/>
        </p:nvSpPr>
        <p:spPr>
          <a:xfrm>
            <a:off x="6278727" y="146304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uy hiệu 4"/>
          <p:cNvSpPr/>
          <p:nvPr/>
        </p:nvSpPr>
        <p:spPr>
          <a:xfrm>
            <a:off x="6507327" y="182880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4567" y="150876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Quy tắc chuyển và cập nhật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Kanban kéo thả, trạng thái cuối</a:t>
            </a:r>
          </a:p>
        </p:txBody>
      </p:sp>
      <p:sp>
        <p:nvSpPr>
          <p:cNvPr id="17" name="Mục 5"/>
          <p:cNvSpPr/>
          <p:nvPr/>
        </p:nvSpPr>
        <p:spPr>
          <a:xfrm>
            <a:off x="6278727" y="292608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5"/>
          <p:cNvSpPr/>
          <p:nvPr/>
        </p:nvSpPr>
        <p:spPr>
          <a:xfrm>
            <a:off x="6507327" y="329184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297180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Ghi chú khách hàng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Mẫu chuẩn và 7 loại khách hàng</a:t>
            </a:r>
          </a:p>
        </p:txBody>
      </p:sp>
      <p:sp>
        <p:nvSpPr>
          <p:cNvPr id="20" name="Mục 6"/>
          <p:cNvSpPr/>
          <p:nvPr/>
        </p:nvSpPr>
        <p:spPr>
          <a:xfrm>
            <a:off x="6278727" y="4389120"/>
            <a:ext cx="5364327" cy="128016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uy hiệu 6"/>
          <p:cNvSpPr/>
          <p:nvPr/>
        </p:nvSpPr>
        <p:spPr>
          <a:xfrm>
            <a:off x="6507327" y="4754880"/>
            <a:ext cx="548640" cy="54864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8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4567" y="4434840"/>
            <a:ext cx="4175607" cy="11887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1" i="0" lang="vi-VN">
                <a:solidFill>
                  <a:srgbClr val="1E2A2E"/>
                </a:solidFill>
                <a:latin typeface="Arial"/>
              </a:rPr>
              <a:t>Phân quyền và KPI</a:t>
            </a:r>
          </a:p>
          <a:p>
            <a:pPr algn="l">
              <a:spcAft>
                <a:spcPts val="100"/>
              </a:spcAft>
            </a:pPr>
            <a:r>
              <a:rPr sz="1400" b="0" i="0" lang="vi-VN">
                <a:solidFill>
                  <a:srgbClr val="5F6F73"/>
                </a:solidFill>
                <a:latin typeface="Arial"/>
              </a:rPr>
              <a:t>Ai được làm gì, đo hiệu quả ra sao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Công cụ: phân hệ Khách hàng trên ECAP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3</a:t>
            </a:fld>
          </a:p>
        </p:txBody>
      </p:sp>
      <p:sp>
        <p:nvSpPr>
          <p:cNvPr id="5" name="Thẻ Danh sách khách hàng"/>
          <p:cNvSpPr/>
          <p:nvPr/>
        </p:nvSpPr>
        <p:spPr>
          <a:xfrm>
            <a:off x="548640" y="137160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Danh sách khách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3300984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Tìm kiếm, xem dạng thẻ hoặc bảng; mỗi khách hiện số deal đang hoạt động và tổng giá trị</a:t>
            </a:r>
          </a:p>
        </p:txBody>
      </p:sp>
      <p:sp>
        <p:nvSpPr>
          <p:cNvPr id="9" name="Thẻ Chi tiết khách hàng"/>
          <p:cNvSpPr/>
          <p:nvPr/>
        </p:nvSpPr>
        <p:spPr>
          <a:xfrm>
            <a:off x="4526279" y="137160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uy hiệu 2"/>
          <p:cNvSpPr/>
          <p:nvPr/>
        </p:nvSpPr>
        <p:spPr>
          <a:xfrm>
            <a:off x="4727447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7" y="1572768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Chi tiết khách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7" y="2121408"/>
            <a:ext cx="3300984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Thông tin liên hệ, người phụ trách và bảng Kanban 6 cột chứa các deal của khách</a:t>
            </a:r>
          </a:p>
        </p:txBody>
      </p:sp>
      <p:sp>
        <p:nvSpPr>
          <p:cNvPr id="13" name="Thẻ Deal (cơ hội bán hàng)"/>
          <p:cNvSpPr/>
          <p:nvPr/>
        </p:nvSpPr>
        <p:spPr>
          <a:xfrm>
            <a:off x="548640" y="379476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y hiệu 3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995928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Deal (cơ hội bán hàng)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544568"/>
            <a:ext cx="3300984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Tiêu đề, giá trị (VND), ngày dự kiến chốt; kéo thả giữa các cột để đổi giai đoạn</a:t>
            </a:r>
          </a:p>
        </p:txBody>
      </p:sp>
      <p:sp>
        <p:nvSpPr>
          <p:cNvPr id="17" name="Thẻ Sản phẩm đã mua"/>
          <p:cNvSpPr/>
          <p:nvPr/>
        </p:nvSpPr>
        <p:spPr>
          <a:xfrm>
            <a:off x="4526279" y="3794760"/>
            <a:ext cx="3703320" cy="21945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4"/>
          <p:cNvSpPr/>
          <p:nvPr/>
        </p:nvSpPr>
        <p:spPr>
          <a:xfrm>
            <a:off x="4727447" y="399592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3995928"/>
            <a:ext cx="2706624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Sản phẩm đã mua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7" y="4544568"/>
            <a:ext cx="3300984" cy="12435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Ghi nhận giao dịch: sản phẩm, số lượng, ngày mua; chọn kho xuất để tự trừ tồn kho</a:t>
            </a:r>
          </a:p>
        </p:txBody>
      </p:sp>
      <p:sp>
        <p:nvSpPr>
          <p:cNvPr id="21" name="Khối lưu ý"/>
          <p:cNvSpPr/>
          <p:nvPr/>
        </p:nvSpPr>
        <p:spPr>
          <a:xfrm>
            <a:off x="8503919" y="1371600"/>
            <a:ext cx="3139135" cy="4617720"/>
          </a:xfrm>
          <a:prstGeom prst="roundRect">
            <a:avLst>
              <a:gd name="adj" fmla="val 6000"/>
            </a:avLst>
          </a:prstGeom>
          <a:solidFill>
            <a:srgbClr val="1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645920"/>
            <a:ext cx="2590495" cy="411480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1" i="0" lang="vi-VN">
                <a:solidFill>
                  <a:srgbClr val="F2A541"/>
                </a:solidFill>
                <a:latin typeface="Arial"/>
              </a:rPr>
              <a:t>Lưu ý</a:t>
            </a:r>
          </a:p>
          <a:p>
            <a:pPr algn="l">
              <a:spcAft>
                <a:spcPts val="1000"/>
              </a:spcAft>
            </a:pPr>
            <a:r>
              <a:rPr sz="1500" b="0" i="0" lang="vi-VN">
                <a:solidFill>
                  <a:srgbClr val="FFFFFF"/>
                </a:solidFill>
                <a:latin typeface="Arial"/>
              </a:rPr>
              <a:t>Phân hệ Khách hàng chỉ có trên web-app ECAP.</a:t>
            </a:r>
          </a:p>
          <a:p>
            <a:pPr algn="l">
              <a:spcAft>
                <a:spcPts val="10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Ứng dụng di động CNA dành cho chấm công, nghỉ phép, công việc, tài liệu, thông báo và nhắn tin; không có màn hình khách hàng hay deal.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Khi deal chuyển sang Hoàn thành, bạn nhận thông báo “Deal đã chốt thành công”.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Phễu bán hàng quý III/2026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4</a:t>
            </a:fld>
          </a:p>
        </p:txBody>
      </p:sp>
      <p:sp>
        <p:nvSpPr>
          <p:cNvPr id="5" name="Phễu Mới"/>
          <p:cNvSpPr/>
          <p:nvPr/>
        </p:nvSpPr>
        <p:spPr>
          <a:xfrm>
            <a:off x="548640" y="1463040"/>
            <a:ext cx="6583680" cy="749808"/>
          </a:xfrm>
          <a:prstGeom prst="roundRect">
            <a:avLst>
              <a:gd name="adj" fmla="val 20000"/>
            </a:avLst>
          </a:prstGeom>
          <a:solidFill>
            <a:srgbClr val="9F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Mới  </a:t>
            </a:r>
            <a:r>
              <a:rPr sz="1600" b="0" i="0" lang="vi-VN">
                <a:solidFill>
                  <a:srgbClr val="12343B"/>
                </a:solidFill>
                <a:latin typeface="Arial"/>
              </a:rPr>
              <a:t>120 deal</a:t>
            </a:r>
          </a:p>
        </p:txBody>
      </p:sp>
      <p:sp>
        <p:nvSpPr>
          <p:cNvPr id="6" name="Phễu Đã liên hệ"/>
          <p:cNvSpPr/>
          <p:nvPr/>
        </p:nvSpPr>
        <p:spPr>
          <a:xfrm>
            <a:off x="1481328" y="2377440"/>
            <a:ext cx="4718304" cy="749808"/>
          </a:xfrm>
          <a:prstGeom prst="roundRect">
            <a:avLst>
              <a:gd name="adj" fmla="val 20000"/>
            </a:avLst>
          </a:prstGeom>
          <a:solidFill>
            <a:srgbClr val="7F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Đã liên hệ  </a:t>
            </a:r>
            <a:r>
              <a:rPr sz="1600" b="0" i="0" lang="vi-VN">
                <a:solidFill>
                  <a:srgbClr val="12343B"/>
                </a:solidFill>
                <a:latin typeface="Arial"/>
              </a:rPr>
              <a:t>86 deal</a:t>
            </a:r>
          </a:p>
        </p:txBody>
      </p:sp>
      <p:sp>
        <p:nvSpPr>
          <p:cNvPr id="7" name="Phễu Đề xuất"/>
          <p:cNvSpPr/>
          <p:nvPr/>
        </p:nvSpPr>
        <p:spPr>
          <a:xfrm>
            <a:off x="2359152" y="3291840"/>
            <a:ext cx="2962656" cy="749808"/>
          </a:xfrm>
          <a:prstGeom prst="roundRect">
            <a:avLst>
              <a:gd name="adj" fmla="val 20000"/>
            </a:avLst>
          </a:prstGeom>
          <a:solidFill>
            <a:srgbClr val="2F8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FFFFFF"/>
                </a:solidFill>
                <a:latin typeface="Arial"/>
              </a:rPr>
              <a:t>Đề xuất  </a:t>
            </a:r>
            <a:r>
              <a:rPr sz="1600" b="0" i="0" lang="vi-VN">
                <a:solidFill>
                  <a:srgbClr val="FFFFFF"/>
                </a:solidFill>
                <a:latin typeface="Arial"/>
              </a:rPr>
              <a:t>54 deal</a:t>
            </a:r>
          </a:p>
        </p:txBody>
      </p:sp>
      <p:sp>
        <p:nvSpPr>
          <p:cNvPr id="8" name="Phễu Đàm phán"/>
          <p:cNvSpPr/>
          <p:nvPr/>
        </p:nvSpPr>
        <p:spPr>
          <a:xfrm>
            <a:off x="2468880" y="4206240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FFFFFF"/>
                </a:solidFill>
                <a:latin typeface="Arial"/>
              </a:rPr>
              <a:t>Đàm phán  </a:t>
            </a:r>
            <a:r>
              <a:rPr sz="1600" b="0" i="0" lang="vi-VN">
                <a:solidFill>
                  <a:srgbClr val="FFFFFF"/>
                </a:solidFill>
                <a:latin typeface="Arial"/>
              </a:rPr>
              <a:t>38 deal</a:t>
            </a:r>
          </a:p>
        </p:txBody>
      </p:sp>
      <p:sp>
        <p:nvSpPr>
          <p:cNvPr id="9" name="Phễu Hoàn thành"/>
          <p:cNvSpPr/>
          <p:nvPr/>
        </p:nvSpPr>
        <p:spPr>
          <a:xfrm>
            <a:off x="2468880" y="5120640"/>
            <a:ext cx="2743200" cy="749808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Hoàn thành  </a:t>
            </a:r>
            <a:r>
              <a:rPr sz="1600" b="0" i="0" lang="vi-VN">
                <a:solidFill>
                  <a:srgbClr val="12343B"/>
                </a:solidFill>
                <a:latin typeface="Arial"/>
              </a:rPr>
              <a:t>34 deal</a:t>
            </a:r>
          </a:p>
        </p:txBody>
      </p:sp>
      <p:sp>
        <p:nvSpPr>
          <p:cNvPr id="10" name="Chỉ số Tỷ lệ chốt quý III"/>
          <p:cNvSpPr/>
          <p:nvPr/>
        </p:nvSpPr>
        <p:spPr>
          <a:xfrm>
            <a:off x="7589520" y="1463040"/>
            <a:ext cx="4053535" cy="173736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572768"/>
            <a:ext cx="3687775" cy="73152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3600" b="1" i="0" lang="vi-VN">
                <a:solidFill>
                  <a:srgbClr val="1B6F6A"/>
                </a:solidFill>
                <a:latin typeface="Arial"/>
              </a:rPr>
              <a:t>60,7%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59152"/>
            <a:ext cx="3687775" cy="731519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1" i="0" lang="vi-VN">
                <a:solidFill>
                  <a:srgbClr val="1E2A2E"/>
                </a:solidFill>
                <a:latin typeface="Arial"/>
              </a:rPr>
              <a:t>Tỷ lệ chốt quý III</a:t>
            </a:r>
          </a:p>
          <a:p>
            <a:pPr algn="l">
              <a:spcAft>
                <a:spcPts val="2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34 Hoàn thành / (34 Hoàn thành + 22 Thất bại)</a:t>
            </a:r>
          </a:p>
        </p:txBody>
      </p:sp>
      <p:sp>
        <p:nvSpPr>
          <p:cNvPr id="13" name="Thẻ Đọc phễu thế nào"/>
          <p:cNvSpPr/>
          <p:nvPr/>
        </p:nvSpPr>
        <p:spPr>
          <a:xfrm>
            <a:off x="7589520" y="3429000"/>
            <a:ext cx="4053535" cy="251460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3630168"/>
            <a:ext cx="3651199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Đọc phễu thế nào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4133087"/>
            <a:ext cx="3651199" cy="16093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Mỗi tầng là số deal từng đi qua giai đoạn đó trong quý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Rơi nhiều nhất: Đã liên hệ → Đề xuất (37%), cần báo giá nhanh hơn</a:t>
            </a:r>
          </a:p>
          <a:p>
            <a:pPr algn="l" marL="228600" indent="-177800">
              <a:spcAft>
                <a:spcPts val="400"/>
              </a:spcAft>
              <a:buClr>
                <a:srgbClr val="1B6F6A"/>
              </a:buClr>
              <a:buFont typeface="Arial"/>
              <a:buChar char="•"/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Deal Thất bại không nằm trong phễu, được tính riêng vào tỷ lệ chốt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9788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Số liệu minh hoạ.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Định nghĩa 6 giai đoạn deal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5</a:t>
            </a:fld>
          </a:p>
        </p:txBody>
      </p:sp>
      <p:graphicFrame>
        <p:nvGraphicFramePr>
          <p:cNvPr id="5" name="Bảng"/>
          <p:cNvGraphicFramePr>
            <a:graphicFrameLocks noGrp="1"/>
          </p:cNvGraphicFramePr>
          <p:nvPr/>
        </p:nvGraphicFramePr>
        <p:xfrm>
          <a:off x="548640" y="1371600"/>
          <a:ext cx="11094415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45920"/>
                <a:gridCol w="3657600"/>
                <a:gridCol w="4190695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Giai đoạn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Mã hệ thống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Khi nào vào giai đoạn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Việc bắt buộc trước khi chuyển tiếp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 nhu cầu ban đầu: khách gọi, website, được giới thiệu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Tạo deal với tiêu đề, giá trị ước tính, ngày dự kiến chốt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Đã liên hệ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CONTACTED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Đã trao đổi trực tiếp với người liên hệ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Ghi nhu cầu, ngân sách, người quyết định vào ghi chú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Đề xuất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PROPOSAL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Đã gửi báo giá hoặc cấu hình đề xuất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Lưu báo giá ở mục Tài liệu, cập nhật giá trị deal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Đàm phán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NEGOTIATION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Khách phản hồi về giá, điều khoản, giao hàng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Ghi điều kiện đang thương lượng, cập nhật ngày dự kiến chốt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Hoàn thành</a:t>
                      </a:r>
                    </a:p>
                  </a:txBody>
                  <a:tcPr marL="73152" marR="73152" marT="36576" marB="36576" anchor="ctr">
                    <a:solidFill>
                      <a:srgbClr val="FDF1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WON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Khách xác nhận mua bằng đơn hàng hoặc hợp đồng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Ghi nhận giao dịch mua hàng, chọn kho xuất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Thất bại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LOST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Khách từ chối hoặc không phản hồi quá 30 ngày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Ghi lý do thất bại vào ghi chú khách hàng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Quy tắc chuyển giai đoạn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6</a:t>
            </a:fld>
          </a:p>
        </p:txBody>
      </p:sp>
      <p:sp>
        <p:nvSpPr>
          <p:cNvPr id="5" name="Vùng giai đoạn hoạt động"/>
          <p:cNvSpPr/>
          <p:nvPr/>
        </p:nvSpPr>
        <p:spPr>
          <a:xfrm>
            <a:off x="357987" y="1417320"/>
            <a:ext cx="11475720" cy="132588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Đ Mới"/>
          <p:cNvSpPr/>
          <p:nvPr/>
        </p:nvSpPr>
        <p:spPr>
          <a:xfrm>
            <a:off x="586587" y="1554480"/>
            <a:ext cx="2240280" cy="822960"/>
          </a:xfrm>
          <a:prstGeom prst="roundRect">
            <a:avLst>
              <a:gd name="adj" fmla="val 15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 lang="vi-VN">
                <a:solidFill>
                  <a:srgbClr val="FFFFFF"/>
                </a:solidFill>
                <a:latin typeface="Arial"/>
              </a:rPr>
              <a:t>Mới</a:t>
            </a:r>
          </a:p>
        </p:txBody>
      </p:sp>
      <p:cxnSp>
        <p:nvCxnSpPr>
          <p:cNvPr id="7" name="Mũi tên"/>
          <p:cNvCxnSpPr/>
          <p:nvPr/>
        </p:nvCxnSpPr>
        <p:spPr>
          <a:xfrm>
            <a:off x="2900019" y="1828800"/>
            <a:ext cx="539496" cy="0"/>
          </a:xfrm>
          <a:prstGeom prst="line">
            <a:avLst/>
          </a:prstGeom>
          <a:ln w="22225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Mũi tên"/>
          <p:cNvCxnSpPr/>
          <p:nvPr/>
        </p:nvCxnSpPr>
        <p:spPr>
          <a:xfrm flipH="1">
            <a:off x="2900019" y="2103120"/>
            <a:ext cx="539496" cy="0"/>
          </a:xfrm>
          <a:prstGeom prst="line">
            <a:avLst/>
          </a:prstGeom>
          <a:ln w="22225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GĐ Đã liên hệ"/>
          <p:cNvSpPr/>
          <p:nvPr/>
        </p:nvSpPr>
        <p:spPr>
          <a:xfrm>
            <a:off x="3512667" y="1554480"/>
            <a:ext cx="2240280" cy="822960"/>
          </a:xfrm>
          <a:prstGeom prst="roundRect">
            <a:avLst>
              <a:gd name="adj" fmla="val 15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 lang="vi-VN">
                <a:solidFill>
                  <a:srgbClr val="FFFFFF"/>
                </a:solidFill>
                <a:latin typeface="Arial"/>
              </a:rPr>
              <a:t>Đã liên hệ</a:t>
            </a:r>
          </a:p>
        </p:txBody>
      </p:sp>
      <p:cxnSp>
        <p:nvCxnSpPr>
          <p:cNvPr id="10" name="Mũi tên"/>
          <p:cNvCxnSpPr/>
          <p:nvPr/>
        </p:nvCxnSpPr>
        <p:spPr>
          <a:xfrm>
            <a:off x="5826099" y="1828800"/>
            <a:ext cx="539496" cy="0"/>
          </a:xfrm>
          <a:prstGeom prst="line">
            <a:avLst/>
          </a:prstGeom>
          <a:ln w="22225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Mũi tên"/>
          <p:cNvCxnSpPr/>
          <p:nvPr/>
        </p:nvCxnSpPr>
        <p:spPr>
          <a:xfrm flipH="1">
            <a:off x="5826099" y="2103120"/>
            <a:ext cx="539496" cy="0"/>
          </a:xfrm>
          <a:prstGeom prst="line">
            <a:avLst/>
          </a:prstGeom>
          <a:ln w="22225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Đ Đề xuất"/>
          <p:cNvSpPr/>
          <p:nvPr/>
        </p:nvSpPr>
        <p:spPr>
          <a:xfrm>
            <a:off x="6438747" y="1554480"/>
            <a:ext cx="2240280" cy="822960"/>
          </a:xfrm>
          <a:prstGeom prst="roundRect">
            <a:avLst>
              <a:gd name="adj" fmla="val 15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 lang="vi-VN">
                <a:solidFill>
                  <a:srgbClr val="FFFFFF"/>
                </a:solidFill>
                <a:latin typeface="Arial"/>
              </a:rPr>
              <a:t>Đề xuất</a:t>
            </a:r>
          </a:p>
        </p:txBody>
      </p:sp>
      <p:cxnSp>
        <p:nvCxnSpPr>
          <p:cNvPr id="13" name="Mũi tên"/>
          <p:cNvCxnSpPr/>
          <p:nvPr/>
        </p:nvCxnSpPr>
        <p:spPr>
          <a:xfrm>
            <a:off x="8752179" y="1828800"/>
            <a:ext cx="539496" cy="0"/>
          </a:xfrm>
          <a:prstGeom prst="line">
            <a:avLst/>
          </a:prstGeom>
          <a:ln w="22225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Mũi tên"/>
          <p:cNvCxnSpPr/>
          <p:nvPr/>
        </p:nvCxnSpPr>
        <p:spPr>
          <a:xfrm flipH="1">
            <a:off x="8752179" y="2103120"/>
            <a:ext cx="539496" cy="0"/>
          </a:xfrm>
          <a:prstGeom prst="line">
            <a:avLst/>
          </a:prstGeom>
          <a:ln w="22225">
            <a:solidFill>
              <a:srgbClr val="1B6F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GĐ Đàm phán"/>
          <p:cNvSpPr/>
          <p:nvPr/>
        </p:nvSpPr>
        <p:spPr>
          <a:xfrm>
            <a:off x="9364827" y="1554480"/>
            <a:ext cx="2240280" cy="822960"/>
          </a:xfrm>
          <a:prstGeom prst="roundRect">
            <a:avLst>
              <a:gd name="adj" fmla="val 15000"/>
            </a:avLst>
          </a:prstGeom>
          <a:solidFill>
            <a:srgbClr val="1B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 lang="vi-VN">
                <a:solidFill>
                  <a:srgbClr val="FFFFFF"/>
                </a:solidFill>
                <a:latin typeface="Arial"/>
              </a:rPr>
              <a:t>Đàm phán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587" y="2404872"/>
            <a:ext cx="11018520" cy="32918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ctr">
              <a:spcAft>
                <a:spcPts val="600"/>
              </a:spcAft>
            </a:pPr>
            <a:r>
              <a:rPr sz="1200" b="0" i="0" lang="vi-VN">
                <a:solidFill>
                  <a:srgbClr val="5F6F73"/>
                </a:solidFill>
                <a:latin typeface="Arial"/>
              </a:rPr>
              <a:t>4 giai đoạn hoạt động: chuyển qua lại tự do, kể cả quay lại bước trước</a:t>
            </a:r>
          </a:p>
        </p:txBody>
      </p:sp>
      <p:cxnSp>
        <p:nvCxnSpPr>
          <p:cNvPr id="17" name="Mũi tên"/>
          <p:cNvCxnSpPr/>
          <p:nvPr/>
        </p:nvCxnSpPr>
        <p:spPr>
          <a:xfrm>
            <a:off x="4267047" y="2761488"/>
            <a:ext cx="0" cy="576072"/>
          </a:xfrm>
          <a:prstGeom prst="line">
            <a:avLst/>
          </a:prstGeom>
          <a:ln w="22225">
            <a:solidFill>
              <a:srgbClr val="5F6F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GĐ Hoàn thành"/>
          <p:cNvSpPr/>
          <p:nvPr/>
        </p:nvSpPr>
        <p:spPr>
          <a:xfrm>
            <a:off x="2804007" y="3383280"/>
            <a:ext cx="2926080" cy="822960"/>
          </a:xfrm>
          <a:prstGeom prst="roundRect">
            <a:avLst>
              <a:gd name="adj" fmla="val 15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 lang="vi-VN">
                <a:solidFill>
                  <a:srgbClr val="12343B"/>
                </a:solidFill>
                <a:latin typeface="Arial"/>
              </a:rPr>
              <a:t>Hoàn thành</a:t>
            </a:r>
          </a:p>
          <a:p>
            <a:pPr algn="ctr">
              <a:spcAft>
                <a:spcPts val="0"/>
              </a:spcAft>
            </a:pPr>
            <a:r>
              <a:rPr sz="1200" b="0" i="0" lang="vi-VN">
                <a:solidFill>
                  <a:srgbClr val="12343B"/>
                </a:solidFill>
                <a:latin typeface="Arial"/>
              </a:rPr>
              <a:t>trạng thái cuối</a:t>
            </a:r>
          </a:p>
        </p:txBody>
      </p:sp>
      <p:cxnSp>
        <p:nvCxnSpPr>
          <p:cNvPr id="19" name="Mũi tên"/>
          <p:cNvCxnSpPr/>
          <p:nvPr/>
        </p:nvCxnSpPr>
        <p:spPr>
          <a:xfrm>
            <a:off x="7924647" y="2761488"/>
            <a:ext cx="0" cy="576072"/>
          </a:xfrm>
          <a:prstGeom prst="line">
            <a:avLst/>
          </a:prstGeom>
          <a:ln w="22225">
            <a:solidFill>
              <a:srgbClr val="5F6F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GĐ Thất bại"/>
          <p:cNvSpPr/>
          <p:nvPr/>
        </p:nvSpPr>
        <p:spPr>
          <a:xfrm>
            <a:off x="6461607" y="3383280"/>
            <a:ext cx="2926080" cy="822960"/>
          </a:xfrm>
          <a:prstGeom prst="roundRect">
            <a:avLst>
              <a:gd name="adj" fmla="val 15000"/>
            </a:avLst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1" i="0" lang="vi-VN">
                <a:solidFill>
                  <a:srgbClr val="FFFFFF"/>
                </a:solidFill>
                <a:latin typeface="Arial"/>
              </a:rPr>
              <a:t>Thất bại</a:t>
            </a:r>
          </a:p>
          <a:p>
            <a:pPr algn="ctr">
              <a:spcAft>
                <a:spcPts val="0"/>
              </a:spcAft>
            </a:pPr>
            <a:r>
              <a:rPr sz="1200" b="0" i="0" lang="vi-VN">
                <a:solidFill>
                  <a:srgbClr val="FFFFFF"/>
                </a:solidFill>
                <a:latin typeface="Arial"/>
              </a:rPr>
              <a:t>trạng thái cuối</a:t>
            </a:r>
          </a:p>
        </p:txBody>
      </p:sp>
      <p:sp>
        <p:nvSpPr>
          <p:cNvPr id="21" name="Thẻ Đóng từ mọi bước"/>
          <p:cNvSpPr/>
          <p:nvPr/>
        </p:nvSpPr>
        <p:spPr>
          <a:xfrm>
            <a:off x="548640" y="4297680"/>
            <a:ext cx="3515258" cy="1874519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y hiệu 1"/>
          <p:cNvSpPr/>
          <p:nvPr/>
        </p:nvSpPr>
        <p:spPr>
          <a:xfrm>
            <a:off x="749808" y="449884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9884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Đóng từ mọi bước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47488"/>
            <a:ext cx="3112922" cy="9235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Từ bất kỳ giai đoạn hoạt động nào cũng đóng được sang Hoàn thành hoặc Thất bại</a:t>
            </a:r>
          </a:p>
        </p:txBody>
      </p:sp>
      <p:sp>
        <p:nvSpPr>
          <p:cNvPr id="25" name="Thẻ Không mở lại"/>
          <p:cNvSpPr/>
          <p:nvPr/>
        </p:nvSpPr>
        <p:spPr>
          <a:xfrm>
            <a:off x="4338218" y="4297680"/>
            <a:ext cx="3515258" cy="1874519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uy hiệu 2"/>
          <p:cNvSpPr/>
          <p:nvPr/>
        </p:nvSpPr>
        <p:spPr>
          <a:xfrm>
            <a:off x="4539386" y="449884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3746" y="449884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Không mở lại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9386" y="5047488"/>
            <a:ext cx="3112922" cy="9235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Deal đã đóng kéo sang cột khác sẽ bị hệ thống từ chối; cần thì tạo deal mới</a:t>
            </a:r>
          </a:p>
        </p:txBody>
      </p:sp>
      <p:sp>
        <p:nvSpPr>
          <p:cNvPr id="29" name="Thẻ Ngày đóng tự động"/>
          <p:cNvSpPr/>
          <p:nvPr/>
        </p:nvSpPr>
        <p:spPr>
          <a:xfrm>
            <a:off x="8127796" y="4297680"/>
            <a:ext cx="3515258" cy="1874519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uy hiệu 3"/>
          <p:cNvSpPr/>
          <p:nvPr/>
        </p:nvSpPr>
        <p:spPr>
          <a:xfrm>
            <a:off x="8328964" y="449884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3324" y="449884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1" i="0" lang="vi-VN">
                <a:solidFill>
                  <a:srgbClr val="12343B"/>
                </a:solidFill>
                <a:latin typeface="Arial"/>
              </a:rPr>
              <a:t>Ngày đóng tự động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8964" y="5047488"/>
            <a:ext cx="3112922" cy="92354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Hệ thống tự ghi ngày đóng khi deal chuyển sang Hoàn thành hoặc Thất bại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Quy tắc cập nhật pipeline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7</a:t>
            </a:fld>
          </a:p>
        </p:txBody>
      </p:sp>
      <p:sp>
        <p:nvSpPr>
          <p:cNvPr id="5" name="Thẻ Cập nhật trong ngày"/>
          <p:cNvSpPr/>
          <p:nvPr/>
        </p:nvSpPr>
        <p:spPr>
          <a:xfrm>
            <a:off x="548640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uy hiệu 1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7276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Cập nhật trong ngày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21408"/>
            <a:ext cx="3112922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Sau mỗi lần gặp, gọi hoặc gửi báo giá, cập nhật deal trước 17:30 cùng ngày</a:t>
            </a:r>
          </a:p>
        </p:txBody>
      </p:sp>
      <p:sp>
        <p:nvSpPr>
          <p:cNvPr id="9" name="Thẻ Đủ 3 trường bắt buộc"/>
          <p:cNvSpPr/>
          <p:nvPr/>
        </p:nvSpPr>
        <p:spPr>
          <a:xfrm>
            <a:off x="4338218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uy hiệu 2"/>
          <p:cNvSpPr/>
          <p:nvPr/>
        </p:nvSpPr>
        <p:spPr>
          <a:xfrm>
            <a:off x="4539386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3746" y="157276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Đủ 3 trường bắt buộc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9386" y="2121408"/>
            <a:ext cx="3112922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Mỗi deal có tiêu đề, giá trị (VND) và ngày dự kiến chốt</a:t>
            </a:r>
          </a:p>
        </p:txBody>
      </p:sp>
      <p:sp>
        <p:nvSpPr>
          <p:cNvPr id="13" name="Thẻ Không để deal quá hạn"/>
          <p:cNvSpPr/>
          <p:nvPr/>
        </p:nvSpPr>
        <p:spPr>
          <a:xfrm>
            <a:off x="8127796" y="13716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8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uy hiệu 3"/>
          <p:cNvSpPr/>
          <p:nvPr/>
        </p:nvSpPr>
        <p:spPr>
          <a:xfrm>
            <a:off x="8328964" y="1572768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3324" y="1572768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Không để deal quá hạn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964" y="2121408"/>
            <a:ext cx="3112922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Quá ngày dự kiến chốt thì dời ngày có lý do hoặc chuyển Thất bại</a:t>
            </a:r>
          </a:p>
        </p:txBody>
      </p:sp>
      <p:sp>
        <p:nvSpPr>
          <p:cNvPr id="17" name="Thẻ Một người phụ trách"/>
          <p:cNvSpPr/>
          <p:nvPr/>
        </p:nvSpPr>
        <p:spPr>
          <a:xfrm>
            <a:off x="548640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uy hiệu 4"/>
          <p:cNvSpPr/>
          <p:nvPr/>
        </p:nvSpPr>
        <p:spPr>
          <a:xfrm>
            <a:off x="749808" y="3950207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50207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Một người phụ trách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498847"/>
            <a:ext cx="3112922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Mỗi khách có 1 người phụ trách; đổi người phụ trách do quản lý thực hiện</a:t>
            </a:r>
          </a:p>
        </p:txBody>
      </p:sp>
      <p:sp>
        <p:nvSpPr>
          <p:cNvPr id="21" name="Thẻ Không tự xoá deal"/>
          <p:cNvSpPr/>
          <p:nvPr/>
        </p:nvSpPr>
        <p:spPr>
          <a:xfrm>
            <a:off x="4338218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uy hiệu 5"/>
          <p:cNvSpPr/>
          <p:nvPr/>
        </p:nvSpPr>
        <p:spPr>
          <a:xfrm>
            <a:off x="4539386" y="3950207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3746" y="3950207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Không tự xoá deal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9386" y="4498847"/>
            <a:ext cx="3112922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Nhân viên không có quyền xoá deal; deal nhập sai báo quản lý xử lý</a:t>
            </a:r>
          </a:p>
        </p:txBody>
      </p:sp>
      <p:sp>
        <p:nvSpPr>
          <p:cNvPr id="25" name="Thẻ Ghi nhận giao dịch"/>
          <p:cNvSpPr/>
          <p:nvPr/>
        </p:nvSpPr>
        <p:spPr>
          <a:xfrm>
            <a:off x="8127796" y="3749039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uy hiệu 6"/>
          <p:cNvSpPr/>
          <p:nvPr/>
        </p:nvSpPr>
        <p:spPr>
          <a:xfrm>
            <a:off x="8328964" y="3950207"/>
            <a:ext cx="457200" cy="45720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3324" y="3950207"/>
            <a:ext cx="2518562" cy="457200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 lang="vi-VN">
                <a:solidFill>
                  <a:srgbClr val="12343B"/>
                </a:solidFill>
                <a:latin typeface="Arial"/>
              </a:rPr>
              <a:t>Ghi nhận giao dịch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964" y="4498847"/>
            <a:ext cx="3112922" cy="1197864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 lang="vi-VN">
                <a:solidFill>
                  <a:srgbClr val="1E2A2E"/>
                </a:solidFill>
                <a:latin typeface="Arial"/>
              </a:rPr>
              <a:t>Deal Hoàn thành phải ghi nhận giao dịch mua hàng, chọn kho xuất để trừ tồn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Mẫu ghi chú khách hàng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8</a:t>
            </a:fld>
          </a:p>
        </p:txBody>
      </p:sp>
      <p:graphicFrame>
        <p:nvGraphicFramePr>
          <p:cNvPr id="5" name="Bảng"/>
          <p:cNvGraphicFramePr>
            <a:graphicFrameLocks noGrp="1"/>
          </p:cNvGraphicFramePr>
          <p:nvPr/>
        </p:nvGraphicFramePr>
        <p:xfrm>
          <a:off x="548640" y="1371600"/>
          <a:ext cx="749808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38912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Trường ghi chú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Ví dụ: Công ty TNHH ABC (minh hoạ)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Phân loại khách hàng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Doanh nghiệp SME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Người liên hệ, chức vụ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Anh Minh, trưởng phòng hành chính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Nhu cầu chính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12 bộ PC văn phòng và 12 màn hình 24 inch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Ngân sách dự kiến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Khoảng 250 triệu đồng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Thời điểm mua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Trong tháng 11/2026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Người quyết định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Giám đốc công ty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Đối thủ đang chào giá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1 nhà cung cấp khác đã báo giá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Bước tiếp theo, ngày hẹn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Gửi báo giá trước 30/10, gọi lại 01/11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</a:tbl>
          </a:graphicData>
        </a:graphic>
      </p:graphicFrame>
      <p:sp>
        <p:nvSpPr>
          <p:cNvPr id="6" name="Khối phân loại"/>
          <p:cNvSpPr/>
          <p:nvPr/>
        </p:nvSpPr>
        <p:spPr>
          <a:xfrm>
            <a:off x="8366759" y="1371600"/>
            <a:ext cx="3276295" cy="4617720"/>
          </a:xfrm>
          <a:prstGeom prst="roundRect">
            <a:avLst>
              <a:gd name="adj" fmla="val 6000"/>
            </a:avLst>
          </a:prstGeom>
          <a:solidFill>
            <a:srgbClr val="F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59" y="1554480"/>
            <a:ext cx="2819095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12343B"/>
                </a:solidFill>
                <a:latin typeface="Arial"/>
              </a:rPr>
              <a:t>7 loại khách hàng</a:t>
            </a:r>
          </a:p>
        </p:txBody>
      </p:sp>
      <p:sp>
        <p:nvSpPr>
          <p:cNvPr id="8" name="Loại Khách hàng tiềm năng"/>
          <p:cNvSpPr/>
          <p:nvPr/>
        </p:nvSpPr>
        <p:spPr>
          <a:xfrm>
            <a:off x="8595359" y="2103120"/>
            <a:ext cx="2819095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Khách hàng tiềm năng</a:t>
            </a:r>
          </a:p>
        </p:txBody>
      </p:sp>
      <p:sp>
        <p:nvSpPr>
          <p:cNvPr id="9" name="Loại Khách hàng VIP"/>
          <p:cNvSpPr/>
          <p:nvPr/>
        </p:nvSpPr>
        <p:spPr>
          <a:xfrm>
            <a:off x="8595359" y="2578608"/>
            <a:ext cx="2819095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Khách hàng VIP</a:t>
            </a:r>
          </a:p>
        </p:txBody>
      </p:sp>
      <p:sp>
        <p:nvSpPr>
          <p:cNvPr id="10" name="Loại Khách hàng thân thiết"/>
          <p:cNvSpPr/>
          <p:nvPr/>
        </p:nvSpPr>
        <p:spPr>
          <a:xfrm>
            <a:off x="8595359" y="3054096"/>
            <a:ext cx="2819095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Khách hàng thân thiết</a:t>
            </a:r>
          </a:p>
        </p:txBody>
      </p:sp>
      <p:sp>
        <p:nvSpPr>
          <p:cNvPr id="11" name="Loại Khách hàng mới"/>
          <p:cNvSpPr/>
          <p:nvPr/>
        </p:nvSpPr>
        <p:spPr>
          <a:xfrm>
            <a:off x="8595359" y="3529584"/>
            <a:ext cx="2819095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Khách hàng mới</a:t>
            </a:r>
          </a:p>
        </p:txBody>
      </p:sp>
      <p:sp>
        <p:nvSpPr>
          <p:cNvPr id="12" name="Loại Doanh nghiệp SME"/>
          <p:cNvSpPr/>
          <p:nvPr/>
        </p:nvSpPr>
        <p:spPr>
          <a:xfrm>
            <a:off x="8595359" y="4005072"/>
            <a:ext cx="2819095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Doanh nghiệp SME</a:t>
            </a:r>
          </a:p>
        </p:txBody>
      </p:sp>
      <p:sp>
        <p:nvSpPr>
          <p:cNvPr id="13" name="Loại Tập đoàn / Doanh nghiệp lớn"/>
          <p:cNvSpPr/>
          <p:nvPr/>
        </p:nvSpPr>
        <p:spPr>
          <a:xfrm>
            <a:off x="8595359" y="4480560"/>
            <a:ext cx="2819095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Tập đoàn / Doanh nghiệp lớn</a:t>
            </a:r>
          </a:p>
        </p:txBody>
      </p:sp>
      <p:sp>
        <p:nvSpPr>
          <p:cNvPr id="14" name="Loại Khách hàng cá nhân"/>
          <p:cNvSpPr/>
          <p:nvPr/>
        </p:nvSpPr>
        <p:spPr>
          <a:xfrm>
            <a:off x="8595359" y="4956048"/>
            <a:ext cx="2819095" cy="38404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C9D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 lang="vi-VN">
                <a:solidFill>
                  <a:srgbClr val="1E2A2E"/>
                </a:solidFill>
                <a:latin typeface="Arial"/>
              </a:rPr>
              <a:t>Khách hàng cá nhân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5486400"/>
            <a:ext cx="2819095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Hoặc chọn “Khác” và tự điền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Phân quyền theo vai trò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9</a:t>
            </a:fld>
          </a:p>
        </p:txBody>
      </p:sp>
      <p:graphicFrame>
        <p:nvGraphicFramePr>
          <p:cNvPr id="5" name="Bảng"/>
          <p:cNvGraphicFramePr>
            <a:graphicFrameLocks noGrp="1"/>
          </p:cNvGraphicFramePr>
          <p:nvPr/>
        </p:nvGraphicFramePr>
        <p:xfrm>
          <a:off x="548640" y="1371600"/>
          <a:ext cx="1109441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011680"/>
                <a:gridCol w="2011680"/>
                <a:gridCol w="2316175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Thao tác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Nhân viên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Quản lý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Quản trị tổ chức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Xem danh sách và chi tiết khách hàng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Thêm, sửa khách hàng, đổi người phụ trách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Xoá khách hàng (xoá kèm toàn bộ deal)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Tạo deal, sửa deal, đổi giai đoạn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Xoá deal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Ghi nhận, sửa giao dịch mua hàng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Xoá giao dịch mua hàng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Không</a:t>
                      </a:r>
                    </a:p>
                  </a:txBody>
                  <a:tcPr marL="73152" marR="73152" marT="36576" marB="36576" anchor="ctr">
                    <a:solidFill>
                      <a:srgbClr val="F8E1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Có</a:t>
                      </a:r>
                    </a:p>
                  </a:txBody>
                  <a:tcPr marL="73152" marR="73152" marT="36576" marB="36576" anchor="ctr">
                    <a:solidFill>
                      <a:srgbClr val="DFF0E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0" i="0" lang="vi-VN">
                <a:solidFill>
                  <a:srgbClr val="5F6F73"/>
                </a:solidFill>
                <a:latin typeface="Arial"/>
              </a:rPr>
              <a:t>Nhân viên chỉ xem được giao dịch do chính mình ghi nhận. Xoá khách hàng hoặc deal là xoá vĩnh viễn, không hoàn tác.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777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200" b="1" i="0" lang="vi-VN">
                <a:solidFill>
                  <a:srgbClr val="12343B"/>
                </a:solidFill>
                <a:latin typeface="Arial"/>
              </a:rPr>
              <a:t>KPI kinh doanh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5F6F73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5F6F73"/>
                </a:solidFill>
                <a:latin typeface="Arial"/>
              </a:rPr>
              <a:t>10</a:t>
            </a:fld>
          </a:p>
        </p:txBody>
      </p:sp>
      <p:graphicFrame>
        <p:nvGraphicFramePr>
          <p:cNvPr id="5" name="Biểu đồ doanh số"/>
          <p:cNvGraphicFramePr>
            <a:graphicFrameLocks noGrp="1"/>
          </p:cNvGraphicFramePr>
          <p:nvPr/>
        </p:nvGraphicFramePr>
        <p:xfrm>
          <a:off x="548640" y="1371600"/>
          <a:ext cx="48463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 lang="vi-VN">
                <a:solidFill>
                  <a:srgbClr val="5F6F73"/>
                </a:solidFill>
                <a:latin typeface="Arial"/>
              </a:rPr>
              <a:t>Số liệu minh hoạ, thống nhất với Báo cáo KPI quý III/2026.</a:t>
            </a:r>
          </a:p>
        </p:txBody>
      </p:sp>
      <p:graphicFrame>
        <p:nvGraphicFramePr>
          <p:cNvPr id="7" name="Bảng"/>
          <p:cNvGraphicFramePr>
            <a:graphicFrameLocks noGrp="1"/>
          </p:cNvGraphicFramePr>
          <p:nvPr/>
        </p:nvGraphicFramePr>
        <p:xfrm>
          <a:off x="5669279" y="1371600"/>
          <a:ext cx="5973775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770632"/>
                <a:gridCol w="1420063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Chỉ số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Cách tính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FFFFFF"/>
                          </a:solidFill>
                          <a:latin typeface="Arial"/>
                        </a:rPr>
                        <a:t>Mục tiêu</a:t>
                      </a:r>
                    </a:p>
                  </a:txBody>
                  <a:tcPr marL="73152" marR="73152" marT="36576" marB="36576" anchor="ctr">
                    <a:solidFill>
                      <a:srgbClr val="1B6F6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Deal thắng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Số deal chuyển sang Hoàn thành trong kỳ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≥ 12/tháng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Tỷ lệ chốt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Hoàn thành / (Hoàn thành + Thất bại)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≥ 55%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Giá trị pipeline mở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Tổng giá trị deal chưa đóng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≥ 3 lần chỉ tiêu tháng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Thời gian chốt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Từ ngày tạo deal tới ngày đóng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≤ 30 ngày</a:t>
                      </a:r>
                    </a:p>
                  </a:txBody>
                  <a:tcPr marL="73152" marR="73152" marT="36576" marB="36576" anchor="ctr">
                    <a:solidFill>
                      <a:srgbClr val="F3F6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 lang="vi-VN">
                          <a:solidFill>
                            <a:srgbClr val="1E2A2E"/>
                          </a:solidFill>
                          <a:latin typeface="Arial"/>
                        </a:rPr>
                        <a:t>Deal quá hạn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Deal mở đã quá ngày dự kiến chốt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 lang="vi-VN">
                          <a:solidFill>
                            <a:srgbClr val="1E2A2E"/>
                          </a:solidFill>
                          <a:latin typeface="Arial"/>
                        </a:rPr>
                        <a:t>0 vào sáng thứ Hai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188720"/>
            <a:ext cx="10728655" cy="109728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800" b="1" i="0" lang="vi-VN">
                <a:solidFill>
                  <a:srgbClr val="FFFFFF"/>
                </a:solidFill>
                <a:latin typeface="Arial"/>
              </a:rPr>
              <a:t>Checklist tuần đầu tiên</a:t>
            </a:r>
          </a:p>
        </p:txBody>
      </p:sp>
      <p:sp>
        <p:nvSpPr>
          <p:cNvPr id="3" name="Chân trang"/>
          <p:cNvSpPr txBox="1"/>
          <p:nvPr/>
        </p:nvSpPr>
        <p:spPr>
          <a:xfrm>
            <a:off x="548640" y="6382512"/>
            <a:ext cx="8686800" cy="310896"/>
          </a:xfrm>
          <a:prstGeom prst="rect">
            <a:avLst/>
          </a:prstGeom>
          <a:noFill/>
        </p:spPr>
        <p:txBody>
          <a:bodyPr wrap="square" anchor="ctr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 lang="vi-VN">
                <a:solidFill>
                  <a:srgbClr val="B9CFCB"/>
                </a:solidFill>
                <a:latin typeface="Arial"/>
              </a:rPr>
              <a:t>Tài liệu nội bộ — Công ty Demo SME — minh hoạ đồ án</a:t>
            </a:r>
          </a:p>
        </p:txBody>
      </p:sp>
      <p:sp>
        <p:nvSpPr>
          <p:cNvPr id="4" name="Số trang"/>
          <p:cNvSpPr txBox="1"/>
          <p:nvPr/>
        </p:nvSpPr>
        <p:spPr>
          <a:xfrm>
            <a:off x="10728655" y="6382512"/>
            <a:ext cx="9144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fld id="{B6F15528-21DE-4FAA-801E-634DDDAF4B2B}" type="slidenum">
              <a:rPr lang="vi-VN" sz="1000">
                <a:solidFill>
                  <a:srgbClr val="B9CFCB"/>
                </a:solidFill>
                <a:latin typeface="Arial"/>
              </a:rPr>
              <a:t>11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7498079" cy="310896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Đăng nhập web-app ECAP, mở mục Khách hàng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Nhận danh sách khách hàng được giao từ trưởng phòng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Bổ sung ghi chú theo mẫu cho từng khách</a:t>
            </a:r>
          </a:p>
          <a:p>
            <a:pPr algn="l" marL="228600" indent="-177800">
              <a:spcAft>
                <a:spcPts val="1000"/>
              </a:spcAft>
              <a:buClr>
                <a:srgbClr val="F2A541"/>
              </a:buClr>
              <a:buFont typeface="Arial"/>
              <a:buChar char="•"/>
            </a:pPr>
            <a:r>
              <a:rPr sz="1800" b="0" i="0" lang="vi-VN">
                <a:solidFill>
                  <a:srgbClr val="FFFFFF"/>
                </a:solidFill>
                <a:latin typeface="Arial"/>
              </a:rPr>
              <a:t>Rà soát deal quá ngày dự kiến chốt mỗi sáng thứ Hai</a:t>
            </a:r>
          </a:p>
        </p:txBody>
      </p:sp>
      <p:sp>
        <p:nvSpPr>
          <p:cNvPr id="6" name="Khối liên hệ"/>
          <p:cNvSpPr/>
          <p:nvPr/>
        </p:nvSpPr>
        <p:spPr>
          <a:xfrm>
            <a:off x="8549640" y="2514600"/>
            <a:ext cx="3090672" cy="2926080"/>
          </a:xfrm>
          <a:prstGeom prst="roundRect">
            <a:avLst>
              <a:gd name="adj" fmla="val 6000"/>
            </a:avLst>
          </a:prstGeom>
          <a:solidFill>
            <a:srgbClr val="1E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697480"/>
            <a:ext cx="2651760" cy="2560320"/>
          </a:xfrm>
          <a:prstGeom prst="rect">
            <a:avLst/>
          </a:prstGeom>
          <a:noFill/>
        </p:spPr>
        <p:txBody>
          <a:bodyPr wrap="square" anchor="t" lIns="0" rIns="0" tIns="27432" bIns="27432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lang="vi-VN">
                <a:solidFill>
                  <a:srgbClr val="F2A541"/>
                </a:solidFill>
                <a:latin typeface="Arial"/>
              </a:rPr>
              <a:t>Hỗ trợ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Trưởng phòng Kinh doanh.</a:t>
            </a:r>
          </a:p>
          <a:p>
            <a:pPr algn="l">
              <a:spcAft>
                <a:spcPts val="600"/>
              </a:spcAft>
            </a:pPr>
            <a:r>
              <a:rPr sz="1400" b="0" i="0" lang="vi-VN">
                <a:solidFill>
                  <a:srgbClr val="DCEBE8"/>
                </a:solidFill>
                <a:latin typeface="Arial"/>
              </a:rPr>
              <a:t>Tài liệu kèm theo: Hướng dẫn sử dụng phân hệ CRM trên web-app ECAP.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mo SME">
  <a:themeElements>
    <a:clrScheme name="Office">
      <a:dk1>
        <a:sysClr val="windowText" lastClr="000000"/>
      </a:dk1>
      <a:lt1>
        <a:sysClr val="window" lastClr="FFFFFF"/>
      </a:lt1>
      <a:dk2>
        <a:srgbClr val="12343B"/>
      </a:dk2>
      <a:lt2>
        <a:srgbClr val="E8F1EF"/>
      </a:lt2>
      <a:accent1>
        <a:srgbClr val="1B6F6A"/>
      </a:accent1>
      <a:accent2>
        <a:srgbClr val="F2A541"/>
      </a:accent2>
      <a:accent3>
        <a:srgbClr val="5B8DB8"/>
      </a:accent3>
      <a:accent4>
        <a:srgbClr val="C8553D"/>
      </a:accent4>
      <a:accent5>
        <a:srgbClr val="2E8B57"/>
      </a:accent5>
      <a:accent6>
        <a:srgbClr val="8E7CC3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bán hàng và quản lý pipeline</dc:title>
  <dc:subject>Dự án Triển khai CRM nội bộ — tài liệu hội nhập nhân viên kinh doanh</dc:subject>
  <dc:creator>Công ty Demo SME</dc:creator>
  <cp:keywords>ECAP; Công ty Demo SME; minh hoạ đồ án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vi-VN</dc:language>
</cp:coreProperties>
</file>