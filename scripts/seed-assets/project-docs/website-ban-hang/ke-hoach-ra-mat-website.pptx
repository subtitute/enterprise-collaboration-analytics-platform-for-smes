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Triệu đồng</c:v>
                </c:pt>
              </c:strCache>
            </c:strRef>
          </c:tx>
          <c:dPt>
            <c:idx val="0"/>
            <c:spPr>
              <a:solidFill>
                <a:srgbClr val="1B6F6A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2A541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B8DB8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FC9C3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C8553D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7CC3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Nhân công nội bộ (phân bổ)</c:v>
                </c:pt>
                <c:pt idx="1">
                  <c:v>Truyền thông ra mắt</c:v>
                </c:pt>
                <c:pt idx="2">
                  <c:v>Thiết kế, ảnh và nội dung</c:v>
                </c:pt>
                <c:pt idx="3">
                  <c:v>Dự phòng 10%</c:v>
                </c:pt>
                <c:pt idx="4">
                  <c:v>Hạ tầng, tên miền, SSL (12 tháng)</c:v>
                </c:pt>
                <c:pt idx="5">
                  <c:v>Cổng thanh toán, tích hợp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60</c:v>
                </c:pt>
                <c:pt idx="2">
                  <c:v>45</c:v>
                </c:pt>
                <c:pt idx="3">
                  <c:v>33</c:v>
                </c:pt>
                <c:pt idx="4">
                  <c:v>24</c:v>
                </c:pt>
                <c:pt idx="5">
                  <c:v>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đích buổi họp: xin phê duyệt phạm vi, lộ trình và ngân sách giai đoạn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con số Ban giám đốc cần nhớ: ngày ra mắt, tỷ trọng đơn trực tuyến, đồng bộ tồn kho.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Giai đoạn 1 tập trung vào luồng mua hàng cơ bản và tích hợp với Kho, CRM sẵn có trên 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mốc kiểm soát: chốt đặc tả 20/11, bản chạy thử 29/01, ra mắt 15/03/2027.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Phần lớn nhân sự là kiêm nhiệm; chỉ 2 lập trình viên làm toàn thời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Nhân công nội bộ chiếm một nửa ngân sách; dự phòng 10% trên tổng chi phí trực tiếp.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Rủi ro lớn nhất là chất lượng dữ liệu sản phẩm và lệch tồn kho.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chỉ tiêu sẽ được chốt lại sau 1 tháng vận hành thử.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Xin quyết định ngay trong buổi họp để kịp khởi động ngày 02/11.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11680"/>
            <a:ext cx="9692640" cy="173736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 lang="vi-VN">
                <a:solidFill>
                  <a:srgbClr val="FFFFFF"/>
                </a:solidFill>
                <a:latin typeface="Arial"/>
              </a:rPr>
              <a:t>Kế hoạch ra mắt website bán hàng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 lang="vi-VN">
                <a:solidFill>
                  <a:srgbClr val="CFE3DF"/>
                </a:solidFill>
                <a:latin typeface="Arial"/>
              </a:rPr>
              <a:t>Dự án Website bán hàng SME — trình Ban giám đốc phê duyệt</a:t>
            </a:r>
          </a:p>
        </p:txBody>
      </p:sp>
      <p:sp>
        <p:nvSpPr>
          <p:cNvPr id="6" name="Huy hiệu SME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vi-VN">
                <a:solidFill>
                  <a:srgbClr val="12343B"/>
                </a:solidFill>
                <a:latin typeface="Arial"/>
              </a:rPr>
              <a:t>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Công ty Demo 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B9CFCB"/>
                </a:solidFill>
                <a:latin typeface="Arial"/>
              </a:rPr>
              <a:t>Phiên bản 1.0 · 26/10/2026 · Ban dự án Website bán hàng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Nội dung trình bày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2</a:t>
            </a:fld>
          </a:p>
        </p:txBody>
      </p:sp>
      <p:sp>
        <p:nvSpPr>
          <p:cNvPr id="5" name="Mục 1"/>
          <p:cNvSpPr/>
          <p:nvPr/>
        </p:nvSpPr>
        <p:spPr>
          <a:xfrm>
            <a:off x="548640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Mục tiêu và bối cảnh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Vì sao cần kênh bán hàng trực tuyến</a:t>
            </a:r>
          </a:p>
        </p:txBody>
      </p:sp>
      <p:sp>
        <p:nvSpPr>
          <p:cNvPr id="8" name="Mục 2"/>
          <p:cNvSpPr/>
          <p:nvPr/>
        </p:nvSpPr>
        <p:spPr>
          <a:xfrm>
            <a:off x="548640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uy hiệu 2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Phạm vi giai đoạn 1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Chức năng trong và ngoài phạm vi</a:t>
            </a:r>
          </a:p>
        </p:txBody>
      </p:sp>
      <p:sp>
        <p:nvSpPr>
          <p:cNvPr id="11" name="Mục 3"/>
          <p:cNvSpPr/>
          <p:nvPr/>
        </p:nvSpPr>
        <p:spPr>
          <a:xfrm>
            <a:off x="548640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uy hiệu 3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Lộ trình triển khai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Từ 11/2026 đến 03/2027</a:t>
            </a:r>
          </a:p>
        </p:txBody>
      </p:sp>
      <p:sp>
        <p:nvSpPr>
          <p:cNvPr id="14" name="Mục 4"/>
          <p:cNvSpPr/>
          <p:nvPr/>
        </p:nvSpPr>
        <p:spPr>
          <a:xfrm>
            <a:off x="6278727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y hiệu 4"/>
          <p:cNvSpPr/>
          <p:nvPr/>
        </p:nvSpPr>
        <p:spPr>
          <a:xfrm>
            <a:off x="6507327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567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Nhân sự dự án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Vai trò và mức tham gia</a:t>
            </a:r>
          </a:p>
        </p:txBody>
      </p:sp>
      <p:sp>
        <p:nvSpPr>
          <p:cNvPr id="17" name="Mục 5"/>
          <p:cNvSpPr/>
          <p:nvPr/>
        </p:nvSpPr>
        <p:spPr>
          <a:xfrm>
            <a:off x="6278727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5"/>
          <p:cNvSpPr/>
          <p:nvPr/>
        </p:nvSpPr>
        <p:spPr>
          <a:xfrm>
            <a:off x="6507327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Ngân sách và rủi ro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Số liệu minh hoạ, biện pháp giảm thiểu</a:t>
            </a:r>
          </a:p>
        </p:txBody>
      </p:sp>
      <p:sp>
        <p:nvSpPr>
          <p:cNvPr id="20" name="Mục 6"/>
          <p:cNvSpPr/>
          <p:nvPr/>
        </p:nvSpPr>
        <p:spPr>
          <a:xfrm>
            <a:off x="6278727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y hiệu 6"/>
          <p:cNvSpPr/>
          <p:nvPr/>
        </p:nvSpPr>
        <p:spPr>
          <a:xfrm>
            <a:off x="6507327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Chỉ số thành công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Cách đo và đề xuất phê duyệt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Mục tiêu ra mắt website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3</a:t>
            </a:fld>
          </a:p>
        </p:txBody>
      </p:sp>
      <p:sp>
        <p:nvSpPr>
          <p:cNvPr id="5" name="Chỉ số Ngày ra mắt chính thức"/>
          <p:cNvSpPr/>
          <p:nvPr/>
        </p:nvSpPr>
        <p:spPr>
          <a:xfrm>
            <a:off x="548640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15/03/2027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Ngày ra mắt chính thức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Sau khoảng 4,5 tháng triển khai</a:t>
            </a:r>
          </a:p>
        </p:txBody>
      </p:sp>
      <p:sp>
        <p:nvSpPr>
          <p:cNvPr id="8" name="Chỉ số Tỷ trọng đơn hàng trực tu"/>
          <p:cNvSpPr/>
          <p:nvPr/>
        </p:nvSpPr>
        <p:spPr>
          <a:xfrm>
            <a:off x="4338218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Tỷ trọng đơn hàng trực tuyến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Mục tiêu sau 6 tháng (minh hoạ)</a:t>
            </a:r>
          </a:p>
        </p:txBody>
      </p:sp>
      <p:sp>
        <p:nvSpPr>
          <p:cNvPr id="11" name="Chỉ số Sản phẩm đồng bộ tồn kho"/>
          <p:cNvSpPr/>
          <p:nvPr/>
        </p:nvSpPr>
        <p:spPr>
          <a:xfrm>
            <a:off x="8127796" y="137160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0676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676" y="2267712"/>
            <a:ext cx="3149498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Sản phẩm đồng bộ tồn kho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Lấy trực tiếp từ phân hệ Kho trên ECAP</a:t>
            </a:r>
          </a:p>
        </p:txBody>
      </p:sp>
      <p:sp>
        <p:nvSpPr>
          <p:cNvPr id="14" name="Thẻ Bối cảnh hiện tại"/>
          <p:cNvSpPr/>
          <p:nvPr/>
        </p:nvSpPr>
        <p:spPr>
          <a:xfrm>
            <a:off x="548640" y="3383280"/>
            <a:ext cx="5410047" cy="274320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584448"/>
            <a:ext cx="500771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Bối cảnh hiện tại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87368"/>
            <a:ext cx="5007711" cy="18379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Khách hỏi giá qua điện thoại, mạng xã hội; nhân viên báo giá thủ công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Laptop, PC, linh kiện, màn hình, phụ kiện đã quản lý trong phân hệ Kho của ECAP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Chưa có kênh để khách tự xem hàng còn sẵn và đặt hàng 24/7</a:t>
            </a:r>
          </a:p>
        </p:txBody>
      </p:sp>
      <p:sp>
        <p:nvSpPr>
          <p:cNvPr id="17" name="Thẻ Kết quả mong đợi"/>
          <p:cNvSpPr/>
          <p:nvPr/>
        </p:nvSpPr>
        <p:spPr>
          <a:xfrm>
            <a:off x="6233007" y="3383280"/>
            <a:ext cx="5410047" cy="274320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4175" y="3584448"/>
            <a:ext cx="500771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Kết quả mong đợi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4175" y="4087368"/>
            <a:ext cx="5007711" cy="18379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Khách tự tra cứu thông số, giá và tình trạng còn hàng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Đơn trực tuyến chuyển thẳng cho nhân viên kinh doanh phụ trách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Dữ liệu bán hàng đi vào báo cáo xu hướng thị trường trên ECAP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Phạm vi giai đoạn 1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4</a:t>
            </a:fld>
          </a:p>
        </p:txBody>
      </p:sp>
      <p:sp>
        <p:nvSpPr>
          <p:cNvPr id="5" name="Thẻ Danh mục sản phẩm"/>
          <p:cNvSpPr/>
          <p:nvPr/>
        </p:nvSpPr>
        <p:spPr>
          <a:xfrm>
            <a:off x="548640" y="1417320"/>
            <a:ext cx="3291840" cy="148132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618488"/>
            <a:ext cx="229514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Danh mục sản phẩm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67128"/>
            <a:ext cx="2889504" cy="530351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5 nhóm hàng, ảnh, thông số và giá niêm yết</a:t>
            </a:r>
          </a:p>
        </p:txBody>
      </p:sp>
      <p:sp>
        <p:nvSpPr>
          <p:cNvPr id="9" name="Thẻ Tìm kiếm và bộ lọc"/>
          <p:cNvSpPr/>
          <p:nvPr/>
        </p:nvSpPr>
        <p:spPr>
          <a:xfrm>
            <a:off x="4114800" y="1417320"/>
            <a:ext cx="3291840" cy="148132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4315968" y="161848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618488"/>
            <a:ext cx="229514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Tìm kiếm và bộ lọc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167128"/>
            <a:ext cx="2889504" cy="530351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Theo tên, hãng, khoảng giá, tình trạng còn hàng</a:t>
            </a:r>
          </a:p>
        </p:txBody>
      </p:sp>
      <p:sp>
        <p:nvSpPr>
          <p:cNvPr id="13" name="Thẻ Giỏ hàng"/>
          <p:cNvSpPr/>
          <p:nvPr/>
        </p:nvSpPr>
        <p:spPr>
          <a:xfrm>
            <a:off x="548640" y="3035808"/>
            <a:ext cx="3291840" cy="148132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749808" y="3236976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6976"/>
            <a:ext cx="229514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Giỏ hàng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85616"/>
            <a:ext cx="2889504" cy="530352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Thêm, sửa số lượng, lưu giỏ khi đã đăng nhập</a:t>
            </a:r>
          </a:p>
        </p:txBody>
      </p:sp>
      <p:sp>
        <p:nvSpPr>
          <p:cNvPr id="17" name="Thẻ Đặt hàng"/>
          <p:cNvSpPr/>
          <p:nvPr/>
        </p:nvSpPr>
        <p:spPr>
          <a:xfrm>
            <a:off x="4114800" y="3035808"/>
            <a:ext cx="3291840" cy="148132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4"/>
          <p:cNvSpPr/>
          <p:nvPr/>
        </p:nvSpPr>
        <p:spPr>
          <a:xfrm>
            <a:off x="4315968" y="3236976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236976"/>
            <a:ext cx="229514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Đặt hàng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785616"/>
            <a:ext cx="2889504" cy="530352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Xác nhận đơn qua email, theo dõi trạng thái đơn</a:t>
            </a:r>
          </a:p>
        </p:txBody>
      </p:sp>
      <p:sp>
        <p:nvSpPr>
          <p:cNvPr id="21" name="Thẻ Thanh toán"/>
          <p:cNvSpPr/>
          <p:nvPr/>
        </p:nvSpPr>
        <p:spPr>
          <a:xfrm>
            <a:off x="548640" y="4654296"/>
            <a:ext cx="3291840" cy="148132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y hiệu 5"/>
          <p:cNvSpPr/>
          <p:nvPr/>
        </p:nvSpPr>
        <p:spPr>
          <a:xfrm>
            <a:off x="749808" y="4855464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5464"/>
            <a:ext cx="229514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Thanh toán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04103"/>
            <a:ext cx="2889504" cy="530352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Thanh toán khi nhận hàng hoặc chuyển khoản</a:t>
            </a:r>
          </a:p>
        </p:txBody>
      </p:sp>
      <p:sp>
        <p:nvSpPr>
          <p:cNvPr id="25" name="Thẻ Tài khoản"/>
          <p:cNvSpPr/>
          <p:nvPr/>
        </p:nvSpPr>
        <p:spPr>
          <a:xfrm>
            <a:off x="4114800" y="4654296"/>
            <a:ext cx="3291840" cy="1481328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uy hiệu 6"/>
          <p:cNvSpPr/>
          <p:nvPr/>
        </p:nvSpPr>
        <p:spPr>
          <a:xfrm>
            <a:off x="4315968" y="4855464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4855464"/>
            <a:ext cx="229514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Tài khoản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404103"/>
            <a:ext cx="2889504" cy="530352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Khách đăng ký, đăng nhập, xem lịch sử mua hàng</a:t>
            </a:r>
          </a:p>
        </p:txBody>
      </p:sp>
      <p:sp>
        <p:nvSpPr>
          <p:cNvPr id="29" name="Thẻ Tích hợp với ECAP"/>
          <p:cNvSpPr/>
          <p:nvPr/>
        </p:nvSpPr>
        <p:spPr>
          <a:xfrm>
            <a:off x="7680960" y="1417320"/>
            <a:ext cx="3962095" cy="237744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1618488"/>
            <a:ext cx="355975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Tích hợp với ECAP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2121408"/>
            <a:ext cx="3559759" cy="14721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Tồn kho đọc từ phân hệ Kho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Đơn hàng tạo giao dịch mua hàng cho khách trong CRM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Khách mới tạo hồ sơ khách hàng, gán người phụ trách</a:t>
            </a:r>
          </a:p>
        </p:txBody>
      </p:sp>
      <p:sp>
        <p:nvSpPr>
          <p:cNvPr id="32" name="Thẻ Ngoài phạm vi"/>
          <p:cNvSpPr/>
          <p:nvPr/>
        </p:nvSpPr>
        <p:spPr>
          <a:xfrm>
            <a:off x="7680960" y="4023360"/>
            <a:ext cx="3962095" cy="21031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2128" y="4224528"/>
            <a:ext cx="355975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Ngoài phạm vi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4727448"/>
            <a:ext cx="3559759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Ứng dụng di động riêng cho khách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Bán trên sàn thương mại điện tử, đa ngôn ngữ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Khuyến mãi phức tạp, tích điểm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Lộ trình triển khai 11/2026 – 03/2027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5</a:t>
            </a:fld>
          </a:p>
        </p:txBody>
      </p:sp>
      <p:sp>
        <p:nvSpPr>
          <p:cNvPr id="5" name="Tháng 11"/>
          <p:cNvSpPr/>
          <p:nvPr/>
        </p:nvSpPr>
        <p:spPr>
          <a:xfrm>
            <a:off x="3584448" y="1371600"/>
            <a:ext cx="1578803" cy="384048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371600"/>
            <a:ext cx="1615379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 lang="vi-VN">
                <a:solidFill>
                  <a:srgbClr val="FFFFFF"/>
                </a:solidFill>
                <a:latin typeface="Arial"/>
              </a:rPr>
              <a:t>Tháng 11/2026</a:t>
            </a:r>
          </a:p>
        </p:txBody>
      </p:sp>
      <p:sp>
        <p:nvSpPr>
          <p:cNvPr id="7" name="Tháng 12"/>
          <p:cNvSpPr/>
          <p:nvPr/>
        </p:nvSpPr>
        <p:spPr>
          <a:xfrm>
            <a:off x="5199827" y="1371600"/>
            <a:ext cx="1578803" cy="384048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1539" y="1371600"/>
            <a:ext cx="1615379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 lang="vi-VN">
                <a:solidFill>
                  <a:srgbClr val="FFFFFF"/>
                </a:solidFill>
                <a:latin typeface="Arial"/>
              </a:rPr>
              <a:t>Tháng 12/2026</a:t>
            </a:r>
          </a:p>
        </p:txBody>
      </p:sp>
      <p:sp>
        <p:nvSpPr>
          <p:cNvPr id="9" name="Tháng 1"/>
          <p:cNvSpPr/>
          <p:nvPr/>
        </p:nvSpPr>
        <p:spPr>
          <a:xfrm>
            <a:off x="6815206" y="1371600"/>
            <a:ext cx="1578803" cy="384048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918" y="1371600"/>
            <a:ext cx="1615379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 lang="vi-VN">
                <a:solidFill>
                  <a:srgbClr val="FFFFFF"/>
                </a:solidFill>
                <a:latin typeface="Arial"/>
              </a:rPr>
              <a:t>Tháng 1/2027</a:t>
            </a:r>
          </a:p>
        </p:txBody>
      </p:sp>
      <p:sp>
        <p:nvSpPr>
          <p:cNvPr id="11" name="Tháng 2"/>
          <p:cNvSpPr/>
          <p:nvPr/>
        </p:nvSpPr>
        <p:spPr>
          <a:xfrm>
            <a:off x="8430585" y="1371600"/>
            <a:ext cx="1578803" cy="384048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297" y="1371600"/>
            <a:ext cx="1615379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 lang="vi-VN">
                <a:solidFill>
                  <a:srgbClr val="FFFFFF"/>
                </a:solidFill>
                <a:latin typeface="Arial"/>
              </a:rPr>
              <a:t>Tháng 2/2027</a:t>
            </a:r>
          </a:p>
        </p:txBody>
      </p:sp>
      <p:sp>
        <p:nvSpPr>
          <p:cNvPr id="13" name="Tháng 3"/>
          <p:cNvSpPr/>
          <p:nvPr/>
        </p:nvSpPr>
        <p:spPr>
          <a:xfrm>
            <a:off x="10045964" y="1371600"/>
            <a:ext cx="1578803" cy="384048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7676" y="1371600"/>
            <a:ext cx="1615379" cy="384048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300" b="1" i="0" lang="vi-VN">
                <a:solidFill>
                  <a:srgbClr val="FFFFFF"/>
                </a:solidFill>
                <a:latin typeface="Arial"/>
              </a:rPr>
              <a:t>Tháng 3/2027</a:t>
            </a:r>
          </a:p>
        </p:txBody>
      </p:sp>
      <p:sp>
        <p:nvSpPr>
          <p:cNvPr id="15" name="Dòng 1"/>
          <p:cNvSpPr/>
          <p:nvPr/>
        </p:nvSpPr>
        <p:spPr>
          <a:xfrm>
            <a:off x="548640" y="1874519"/>
            <a:ext cx="11094415" cy="566928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òng 3"/>
          <p:cNvSpPr/>
          <p:nvPr/>
        </p:nvSpPr>
        <p:spPr>
          <a:xfrm>
            <a:off x="548640" y="3008376"/>
            <a:ext cx="11094415" cy="566928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òng 5"/>
          <p:cNvSpPr/>
          <p:nvPr/>
        </p:nvSpPr>
        <p:spPr>
          <a:xfrm>
            <a:off x="548640" y="4142231"/>
            <a:ext cx="11094415" cy="566928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òng 7"/>
          <p:cNvSpPr/>
          <p:nvPr/>
        </p:nvSpPr>
        <p:spPr>
          <a:xfrm>
            <a:off x="548640" y="5276088"/>
            <a:ext cx="11094415" cy="566928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Đường kẻ"/>
          <p:cNvCxnSpPr/>
          <p:nvPr/>
        </p:nvCxnSpPr>
        <p:spPr>
          <a:xfrm>
            <a:off x="5181539" y="1874519"/>
            <a:ext cx="0" cy="3968497"/>
          </a:xfrm>
          <a:prstGeom prst="line">
            <a:avLst/>
          </a:prstGeom>
          <a:ln w="9525">
            <a:solidFill>
              <a:srgbClr val="C9D6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Đường kẻ"/>
          <p:cNvCxnSpPr/>
          <p:nvPr/>
        </p:nvCxnSpPr>
        <p:spPr>
          <a:xfrm>
            <a:off x="6796918" y="1874519"/>
            <a:ext cx="0" cy="3968497"/>
          </a:xfrm>
          <a:prstGeom prst="line">
            <a:avLst/>
          </a:prstGeom>
          <a:ln w="9525">
            <a:solidFill>
              <a:srgbClr val="C9D6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Đường kẻ"/>
          <p:cNvCxnSpPr/>
          <p:nvPr/>
        </p:nvCxnSpPr>
        <p:spPr>
          <a:xfrm>
            <a:off x="8412297" y="1874519"/>
            <a:ext cx="0" cy="3968497"/>
          </a:xfrm>
          <a:prstGeom prst="line">
            <a:avLst/>
          </a:prstGeom>
          <a:ln w="9525">
            <a:solidFill>
              <a:srgbClr val="C9D6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Đường kẻ"/>
          <p:cNvCxnSpPr/>
          <p:nvPr/>
        </p:nvCxnSpPr>
        <p:spPr>
          <a:xfrm>
            <a:off x="10027676" y="1874519"/>
            <a:ext cx="0" cy="3968497"/>
          </a:xfrm>
          <a:prstGeom prst="line">
            <a:avLst/>
          </a:prstGeom>
          <a:ln w="9525">
            <a:solidFill>
              <a:srgbClr val="C9D6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1901951"/>
            <a:ext cx="2834639" cy="51206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Khảo sát, đặc tả yêu cầu</a:t>
            </a:r>
          </a:p>
          <a:p>
            <a:pPr algn="l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02/11 – 20/11</a:t>
            </a:r>
          </a:p>
        </p:txBody>
      </p:sp>
      <p:sp>
        <p:nvSpPr>
          <p:cNvPr id="24" name="Thanh Khảo sát, đặc tả yêu cầu"/>
          <p:cNvSpPr/>
          <p:nvPr/>
        </p:nvSpPr>
        <p:spPr>
          <a:xfrm>
            <a:off x="3620005" y="2029967"/>
            <a:ext cx="969227" cy="256031"/>
          </a:xfrm>
          <a:prstGeom prst="roundRect">
            <a:avLst>
              <a:gd name="adj" fmla="val 30000"/>
            </a:avLst>
          </a:prstGeom>
          <a:solidFill>
            <a:srgbClr val="9F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468879"/>
            <a:ext cx="2834639" cy="51206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Thiết kế giao diện UI/UX</a:t>
            </a:r>
          </a:p>
          <a:p>
            <a:pPr algn="l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16/11 – 18/12</a:t>
            </a:r>
          </a:p>
        </p:txBody>
      </p:sp>
      <p:sp>
        <p:nvSpPr>
          <p:cNvPr id="26" name="Thanh Thiết kế giao diện UI/UX"/>
          <p:cNvSpPr/>
          <p:nvPr/>
        </p:nvSpPr>
        <p:spPr>
          <a:xfrm>
            <a:off x="4373849" y="2596896"/>
            <a:ext cx="1693542" cy="256031"/>
          </a:xfrm>
          <a:prstGeom prst="roundRect">
            <a:avLst>
              <a:gd name="adj" fmla="val 30000"/>
            </a:avLst>
          </a:prstGeom>
          <a:solidFill>
            <a:srgbClr val="9F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35808"/>
            <a:ext cx="2834639" cy="51206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Phát triển chức năng lõi</a:t>
            </a:r>
          </a:p>
          <a:p>
            <a:pPr algn="l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01/12 – 29/01</a:t>
            </a:r>
          </a:p>
        </p:txBody>
      </p:sp>
      <p:sp>
        <p:nvSpPr>
          <p:cNvPr id="28" name="Thanh Phát triển chức năng lõi"/>
          <p:cNvSpPr/>
          <p:nvPr/>
        </p:nvSpPr>
        <p:spPr>
          <a:xfrm>
            <a:off x="5181539" y="3163824"/>
            <a:ext cx="3074431" cy="256031"/>
          </a:xfrm>
          <a:prstGeom prst="roundRect">
            <a:avLst>
              <a:gd name="adj" fmla="val 3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02735"/>
            <a:ext cx="2834639" cy="51206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Tích hợp Kho và CRM ECAP</a:t>
            </a:r>
          </a:p>
          <a:p>
            <a:pPr algn="l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05/01 – 12/02</a:t>
            </a:r>
          </a:p>
        </p:txBody>
      </p:sp>
      <p:sp>
        <p:nvSpPr>
          <p:cNvPr id="30" name="Thanh Tích hợp Kho và CRM ECAP"/>
          <p:cNvSpPr/>
          <p:nvPr/>
        </p:nvSpPr>
        <p:spPr>
          <a:xfrm>
            <a:off x="7005354" y="3730752"/>
            <a:ext cx="2041556" cy="256031"/>
          </a:xfrm>
          <a:prstGeom prst="roundRect">
            <a:avLst>
              <a:gd name="adj" fmla="val 3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69663"/>
            <a:ext cx="2834639" cy="51206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Nhập nội dung sản phẩm</a:t>
            </a:r>
          </a:p>
          <a:p>
            <a:pPr algn="l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14/12 – 19/02</a:t>
            </a:r>
          </a:p>
        </p:txBody>
      </p:sp>
      <p:sp>
        <p:nvSpPr>
          <p:cNvPr id="32" name="Thanh Nhập nội dung sản phẩm"/>
          <p:cNvSpPr/>
          <p:nvPr/>
        </p:nvSpPr>
        <p:spPr>
          <a:xfrm>
            <a:off x="5858956" y="4297679"/>
            <a:ext cx="3591799" cy="256031"/>
          </a:xfrm>
          <a:prstGeom prst="roundRect">
            <a:avLst>
              <a:gd name="adj" fmla="val 3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36592"/>
            <a:ext cx="2834639" cy="51206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Kiểm thử và UAT</a:t>
            </a:r>
          </a:p>
          <a:p>
            <a:pPr algn="l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01/02 – 05/03</a:t>
            </a:r>
          </a:p>
        </p:txBody>
      </p:sp>
      <p:sp>
        <p:nvSpPr>
          <p:cNvPr id="34" name="Thanh Kiểm thử và UAT"/>
          <p:cNvSpPr/>
          <p:nvPr/>
        </p:nvSpPr>
        <p:spPr>
          <a:xfrm>
            <a:off x="8412297" y="4864608"/>
            <a:ext cx="1823815" cy="256031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303520"/>
            <a:ext cx="2834639" cy="51206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Ra mắt và truyền thông</a:t>
            </a:r>
          </a:p>
          <a:p>
            <a:pPr algn="l">
              <a:spcAft>
                <a:spcPts val="0"/>
              </a:spcAft>
            </a:pPr>
            <a:r>
              <a:rPr sz="1100" b="0" i="0" lang="vi-VN">
                <a:solidFill>
                  <a:srgbClr val="5F6F73"/>
                </a:solidFill>
                <a:latin typeface="Arial"/>
              </a:rPr>
              <a:t>08/03 – 31/03</a:t>
            </a:r>
          </a:p>
        </p:txBody>
      </p:sp>
      <p:sp>
        <p:nvSpPr>
          <p:cNvPr id="36" name="Thanh Ra mắt và truyền thông"/>
          <p:cNvSpPr/>
          <p:nvPr/>
        </p:nvSpPr>
        <p:spPr>
          <a:xfrm>
            <a:off x="10392439" y="5431536"/>
            <a:ext cx="1198507" cy="256031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ốc Chốt đặc tả"/>
          <p:cNvSpPr/>
          <p:nvPr/>
        </p:nvSpPr>
        <p:spPr>
          <a:xfrm>
            <a:off x="4442929" y="2011679"/>
            <a:ext cx="292608" cy="292608"/>
          </a:xfrm>
          <a:prstGeom prst="diamond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ốc Bản chạy thử"/>
          <p:cNvSpPr/>
          <p:nvPr/>
        </p:nvSpPr>
        <p:spPr>
          <a:xfrm>
            <a:off x="8109666" y="3145536"/>
            <a:ext cx="292608" cy="292608"/>
          </a:xfrm>
          <a:prstGeom prst="diamond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ốc Ra mắt 15/03"/>
          <p:cNvSpPr/>
          <p:nvPr/>
        </p:nvSpPr>
        <p:spPr>
          <a:xfrm>
            <a:off x="10610898" y="5413247"/>
            <a:ext cx="292608" cy="292608"/>
          </a:xfrm>
          <a:prstGeom prst="diamond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ú giải Chuẩn bị"/>
          <p:cNvSpPr/>
          <p:nvPr/>
        </p:nvSpPr>
        <p:spPr>
          <a:xfrm>
            <a:off x="548640" y="6025896"/>
            <a:ext cx="274320" cy="182880"/>
          </a:xfrm>
          <a:prstGeom prst="roundRect">
            <a:avLst>
              <a:gd name="adj" fmla="val 30000"/>
            </a:avLst>
          </a:prstGeom>
          <a:solidFill>
            <a:srgbClr val="9F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952744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Chuẩn bị</a:t>
            </a:r>
          </a:p>
        </p:txBody>
      </p:sp>
      <p:sp>
        <p:nvSpPr>
          <p:cNvPr id="42" name="Chú giải Xây dựng"/>
          <p:cNvSpPr/>
          <p:nvPr/>
        </p:nvSpPr>
        <p:spPr>
          <a:xfrm>
            <a:off x="1920240" y="6025896"/>
            <a:ext cx="274320" cy="182880"/>
          </a:xfrm>
          <a:prstGeom prst="roundRect">
            <a:avLst>
              <a:gd name="adj" fmla="val 3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67712" y="5952744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Xây dựng</a:t>
            </a:r>
          </a:p>
        </p:txBody>
      </p:sp>
      <p:sp>
        <p:nvSpPr>
          <p:cNvPr id="44" name="Chú giải Kiểm thử và ra mắt"/>
          <p:cNvSpPr/>
          <p:nvPr/>
        </p:nvSpPr>
        <p:spPr>
          <a:xfrm>
            <a:off x="3291840" y="6025896"/>
            <a:ext cx="274320" cy="182880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9312" y="5952744"/>
            <a:ext cx="178308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Kiểm thử và ra mắt</a:t>
            </a:r>
          </a:p>
        </p:txBody>
      </p:sp>
      <p:sp>
        <p:nvSpPr>
          <p:cNvPr id="46" name="Chú giải mốc"/>
          <p:cNvSpPr/>
          <p:nvPr/>
        </p:nvSpPr>
        <p:spPr>
          <a:xfrm>
            <a:off x="5486400" y="6007607"/>
            <a:ext cx="219456" cy="219456"/>
          </a:xfrm>
          <a:prstGeom prst="diamond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97296" y="5952744"/>
            <a:ext cx="5845759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Mốc: chốt đặc tả 20/11 · bản chạy thử 29/01 · ra mắt 15/03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Nhân sự dự án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6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11094415" cy="369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86000"/>
                <a:gridCol w="1051560"/>
                <a:gridCol w="1143000"/>
                <a:gridCol w="4419295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Đơn vị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Số người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Tham gia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Trách nhiệm chính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Nhà tài trợ dự án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Ban giám đốc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Phê duyệt phạm vi, ngân sách; gỡ vướng liên phòng ban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Quản lý dự án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Phòng Kỹ thuật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Lập kế hoạch, theo dõi tiến độ trên ECAP, báo cáo tuần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Lập trình viên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Phòng Kỹ thuật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Xây dựng website, tích hợp Kho và CRM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Thiết kế UI/UX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Phòng Marketing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Giao diện, nhận diện trang, ảnh sản phẩm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Nội dung sản phẩm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Kinh doanh, Marketing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Mô tả, thông số, giá niêm yết cho từng mã hàng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Kiểm thử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Phòng Kỹ thuật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Kịch bản kiểm thử, UAT cùng phòng Kinh doanh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Xử lý đơn hàng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Phòng Kinh doanh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Tiếp nhận đơn trực tuyến, chăm sóc khách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Huy hiệu 10"/>
          <p:cNvSpPr/>
          <p:nvPr/>
        </p:nvSpPr>
        <p:spPr>
          <a:xfrm>
            <a:off x="548640" y="52984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5252720"/>
            <a:ext cx="10454335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Tổng 10 người, tương đương khoảng 5 nhân sự toàn thời gian (FTE). Mức tham gia là số liệu minh hoạ.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Ngân sách minh hoạ: 360 triệu đồng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7</a:t>
            </a:fld>
          </a:p>
        </p:txBody>
      </p:sp>
      <p:graphicFrame>
        <p:nvGraphicFramePr>
          <p:cNvPr id="5" name="Biểu đồ ngân sách"/>
          <p:cNvGraphicFramePr>
            <a:graphicFrameLocks noGrp="1"/>
          </p:cNvGraphicFramePr>
          <p:nvPr/>
        </p:nvGraphicFramePr>
        <p:xfrm>
          <a:off x="548640" y="1371600"/>
          <a:ext cx="45720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20240" y="320040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 i="0" lang="vi-VN">
                <a:solidFill>
                  <a:srgbClr val="12343B"/>
                </a:solidFill>
                <a:latin typeface="Arial"/>
              </a:rPr>
              <a:t>360</a:t>
            </a:r>
          </a:p>
          <a:p>
            <a:pPr algn="ctr">
              <a:spcAft>
                <a:spcPts val="0"/>
              </a:spcAft>
            </a:pPr>
            <a:r>
              <a:rPr sz="1300" b="0" i="0" lang="vi-VN">
                <a:solidFill>
                  <a:srgbClr val="5F6F73"/>
                </a:solidFill>
                <a:latin typeface="Arial"/>
              </a:rPr>
              <a:t>triệu đồng</a:t>
            </a:r>
          </a:p>
        </p:txBody>
      </p:sp>
      <p:graphicFrame>
        <p:nvGraphicFramePr>
          <p:cNvPr id="7" name="Bảng"/>
          <p:cNvGraphicFramePr>
            <a:graphicFrameLocks noGrp="1"/>
          </p:cNvGraphicFramePr>
          <p:nvPr/>
        </p:nvGraphicFramePr>
        <p:xfrm>
          <a:off x="5897880" y="1554480"/>
          <a:ext cx="574243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234440"/>
                <a:gridCol w="94183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Hạng mục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Triệu đồng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Tỷ trọng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Nhân công nội bộ (phân bổ)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Truyền thông ra mắt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Thiết kế, ảnh và nội dung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Dự phòng 10%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Hạ tầng, tên miền, SSL (12 tháng)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Cổng thanh toán, tích hợp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Tổng cộng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8" name="Màu Nhân công nội bộ (phân bổ)"/>
          <p:cNvSpPr/>
          <p:nvPr/>
        </p:nvSpPr>
        <p:spPr>
          <a:xfrm>
            <a:off x="5486400" y="2148840"/>
            <a:ext cx="228600" cy="182880"/>
          </a:xfrm>
          <a:prstGeom prst="roundRect">
            <a:avLst>
              <a:gd name="adj" fmla="val 3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àu Truyền thông ra mắt"/>
          <p:cNvSpPr/>
          <p:nvPr/>
        </p:nvSpPr>
        <p:spPr>
          <a:xfrm>
            <a:off x="5486400" y="2606040"/>
            <a:ext cx="228600" cy="182880"/>
          </a:xfrm>
          <a:prstGeom prst="roundRect">
            <a:avLst>
              <a:gd name="adj" fmla="val 3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àu Thiết kế, ảnh và nội dung"/>
          <p:cNvSpPr/>
          <p:nvPr/>
        </p:nvSpPr>
        <p:spPr>
          <a:xfrm>
            <a:off x="5486400" y="3063240"/>
            <a:ext cx="228600" cy="182880"/>
          </a:xfrm>
          <a:prstGeom prst="roundRect">
            <a:avLst>
              <a:gd name="adj" fmla="val 30000"/>
            </a:avLst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àu Dự phòng 10%"/>
          <p:cNvSpPr/>
          <p:nvPr/>
        </p:nvSpPr>
        <p:spPr>
          <a:xfrm>
            <a:off x="5486400" y="3520440"/>
            <a:ext cx="228600" cy="182880"/>
          </a:xfrm>
          <a:prstGeom prst="roundRect">
            <a:avLst>
              <a:gd name="adj" fmla="val 30000"/>
            </a:avLst>
          </a:prstGeom>
          <a:solidFill>
            <a:srgbClr val="9F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àu Hạ tầng, tên miền, SSL (12 tháng)"/>
          <p:cNvSpPr/>
          <p:nvPr/>
        </p:nvSpPr>
        <p:spPr>
          <a:xfrm>
            <a:off x="5486400" y="3977640"/>
            <a:ext cx="228600" cy="182880"/>
          </a:xfrm>
          <a:prstGeom prst="roundRect">
            <a:avLst>
              <a:gd name="adj" fmla="val 3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àu Cổng thanh toán, tích hợp"/>
          <p:cNvSpPr/>
          <p:nvPr/>
        </p:nvSpPr>
        <p:spPr>
          <a:xfrm>
            <a:off x="5486400" y="4434840"/>
            <a:ext cx="228600" cy="182880"/>
          </a:xfrm>
          <a:prstGeom prst="roundRect">
            <a:avLst>
              <a:gd name="adj" fmla="val 30000"/>
            </a:avLst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530352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Số liệu minh hoạ, chưa gồm VAT. Chi phí hạ tầng tính cho 12 tháng đầu.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Rủi ro và biện pháp giảm thiểu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8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1109441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17320"/>
                <a:gridCol w="1417320"/>
                <a:gridCol w="4876495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Rủi ro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Khả năng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Ảnh hưởng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Biện pháp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Dữ liệu sản phẩm thiếu thông số, ảnh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Trung bình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Chuẩn hoá theo bảng thông số kỹ thuật; khoá danh mục từ 19/02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Tồn kho trên web lệch với kho thực tế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Trung bình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Đọc tồn kho trực tiếp từ phân hệ Kho ECAP, không nhập tay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Chậm tiến độ tích hợp CRM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Trung bình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Trung bình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Làm tích hợp sớm từ 05/01; dự phòng nhập đơn thủ công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Lỗi thanh toán, gian lận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Thấp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Giai đoạn 1 chỉ nhận COD và chuyển khoản; đối soát hằng ngày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Lượng truy cập thấp sau ra mắt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Trung bình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Trung bình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Truyền thông 60 triệu; đo hằng tuần và điều chỉnh kênh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ức Cao"/>
          <p:cNvSpPr/>
          <p:nvPr/>
        </p:nvSpPr>
        <p:spPr>
          <a:xfrm>
            <a:off x="548640" y="5065776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F8E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0176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Cao</a:t>
            </a:r>
          </a:p>
        </p:txBody>
      </p:sp>
      <p:sp>
        <p:nvSpPr>
          <p:cNvPr id="8" name="Mức Trung bình"/>
          <p:cNvSpPr/>
          <p:nvPr/>
        </p:nvSpPr>
        <p:spPr>
          <a:xfrm>
            <a:off x="2286000" y="5065776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500176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Trung bình</a:t>
            </a:r>
          </a:p>
        </p:txBody>
      </p:sp>
      <p:sp>
        <p:nvSpPr>
          <p:cNvPr id="10" name="Mức Thấp"/>
          <p:cNvSpPr/>
          <p:nvPr/>
        </p:nvSpPr>
        <p:spPr>
          <a:xfrm>
            <a:off x="4023360" y="5065776"/>
            <a:ext cx="274320" cy="201168"/>
          </a:xfrm>
          <a:prstGeom prst="roundRect">
            <a:avLst>
              <a:gd name="adj" fmla="val 30000"/>
            </a:avLst>
          </a:prstGeom>
          <a:solidFill>
            <a:srgbClr val="D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500176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Thấp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Chỉ số đo thành công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9</a:t>
            </a:fld>
          </a:p>
        </p:txBody>
      </p:sp>
      <p:sp>
        <p:nvSpPr>
          <p:cNvPr id="5" name="Chỉ số Lượt truy cập mỗi tháng"/>
          <p:cNvSpPr/>
          <p:nvPr/>
        </p:nvSpPr>
        <p:spPr>
          <a:xfrm>
            <a:off x="548640" y="13716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5.000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3149498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Lượt truy cập mỗi tháng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Đo từ tháng thứ 3 sau ra mắt</a:t>
            </a:r>
          </a:p>
        </p:txBody>
      </p:sp>
      <p:sp>
        <p:nvSpPr>
          <p:cNvPr id="8" name="Chỉ số Tỷ lệ chuyển đổi"/>
          <p:cNvSpPr/>
          <p:nvPr/>
        </p:nvSpPr>
        <p:spPr>
          <a:xfrm>
            <a:off x="4338218" y="13716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267712"/>
            <a:ext cx="3149498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Tỷ lệ chuyển đổi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Số đơn hàng / lượt truy cập</a:t>
            </a:r>
          </a:p>
        </p:txBody>
      </p:sp>
      <p:sp>
        <p:nvSpPr>
          <p:cNvPr id="11" name="Chỉ số Đơn hàng trực tuyến"/>
          <p:cNvSpPr/>
          <p:nvPr/>
        </p:nvSpPr>
        <p:spPr>
          <a:xfrm>
            <a:off x="8127796" y="13716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0676" y="1481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0676" y="2267712"/>
            <a:ext cx="3149498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Đơn hàng trực tuyến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Tỷ trọng trên tổng đơn sau 6 tháng</a:t>
            </a:r>
          </a:p>
        </p:txBody>
      </p:sp>
      <p:sp>
        <p:nvSpPr>
          <p:cNvPr id="14" name="Chỉ số Thời gian tải trang"/>
          <p:cNvSpPr/>
          <p:nvPr/>
        </p:nvSpPr>
        <p:spPr>
          <a:xfrm>
            <a:off x="548640" y="36576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67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&lt; 3 giây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53712"/>
            <a:ext cx="3149498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Thời gian tải trang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Trang danh mục, mạng di động 4G</a:t>
            </a:r>
          </a:p>
        </p:txBody>
      </p:sp>
      <p:sp>
        <p:nvSpPr>
          <p:cNvPr id="17" name="Chỉ số Lệch tồn kho"/>
          <p:cNvSpPr/>
          <p:nvPr/>
        </p:nvSpPr>
        <p:spPr>
          <a:xfrm>
            <a:off x="4338218" y="36576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1098" y="3767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4553712"/>
            <a:ext cx="3149498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Lệch tồn kho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Đối chiếu web với kho ECAP hằng tuần</a:t>
            </a:r>
          </a:p>
        </p:txBody>
      </p:sp>
      <p:sp>
        <p:nvSpPr>
          <p:cNvPr id="20" name="Chỉ số Phản hồi đơn hàng"/>
          <p:cNvSpPr/>
          <p:nvPr/>
        </p:nvSpPr>
        <p:spPr>
          <a:xfrm>
            <a:off x="8127796" y="36576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0676" y="3767328"/>
            <a:ext cx="3149498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≤ 2 giờ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0676" y="4553712"/>
            <a:ext cx="3149498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Phản hồi đơn hàng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Từ lúc đặt tới khi nhân viên liên hệ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Chỉ tiêu là số liệu minh hoạ.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188720"/>
            <a:ext cx="10728655" cy="10972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800" b="1" i="0" lang="vi-VN">
                <a:solidFill>
                  <a:srgbClr val="FFFFFF"/>
                </a:solidFill>
                <a:latin typeface="Arial"/>
              </a:rPr>
              <a:t>Đề xuất Ban giám đốc phê duyệt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10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7498079" cy="3108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Phạm vi giai đoạn 1 và lộ trình 11/2026 – 03/2027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Ngân sách minh hoạ 360 triệu đồng, đã gồm 10% dự phòng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Phòng Kỹ thuật chủ trì; Kinh doanh và Marketing phối hợp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Họp khởi động dự án ngày 02/11/2026</a:t>
            </a:r>
          </a:p>
        </p:txBody>
      </p:sp>
      <p:sp>
        <p:nvSpPr>
          <p:cNvPr id="6" name="Khối liên hệ"/>
          <p:cNvSpPr/>
          <p:nvPr/>
        </p:nvSpPr>
        <p:spPr>
          <a:xfrm>
            <a:off x="8549640" y="2514600"/>
            <a:ext cx="3090672" cy="2926080"/>
          </a:xfrm>
          <a:prstGeom prst="roundRect">
            <a:avLst>
              <a:gd name="adj" fmla="val 6000"/>
            </a:avLst>
          </a:prstGeom>
          <a:solidFill>
            <a:srgbClr val="1E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697480"/>
            <a:ext cx="2651760" cy="25603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Bước tiếp theo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Gửi bản đặc tả yêu cầu website trước 20/11/2026.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Theo dõi tiến độ tại dự án Website bán hàng SME trên ECAP.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 SME">
  <a:themeElements>
    <a:clrScheme name="Office">
      <a:dk1>
        <a:sysClr val="windowText" lastClr="000000"/>
      </a:dk1>
      <a:lt1>
        <a:sysClr val="window" lastClr="FFFFFF"/>
      </a:lt1>
      <a:dk2>
        <a:srgbClr val="12343B"/>
      </a:dk2>
      <a:lt2>
        <a:srgbClr val="E8F1EF"/>
      </a:lt2>
      <a:accent1>
        <a:srgbClr val="1B6F6A"/>
      </a:accent1>
      <a:accent2>
        <a:srgbClr val="F2A541"/>
      </a:accent2>
      <a:accent3>
        <a:srgbClr val="5B8DB8"/>
      </a:accent3>
      <a:accent4>
        <a:srgbClr val="C8553D"/>
      </a:accent4>
      <a:accent5>
        <a:srgbClr val="2E8B57"/>
      </a:accent5>
      <a:accent6>
        <a:srgbClr val="8E7CC3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ra mắt website bán hàng</dc:title>
  <dc:subject>Dự án Website bán hàng SME — trình Ban giám đốc</dc:subject>
  <dc:creator>Công ty Demo SME</dc:creator>
  <cp:keywords>ECAP; Công ty Demo SME; minh hoạ đồ án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vi-VN</dc:language>
</cp:coreProperties>
</file>