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Ứng dụng dùng chung tài khoản với web-app ECAP, không cần đăng ký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Nhân viên kinh doanh thường ở chỗ khách: các thao tác hằng ngày đều làm được trên điện thoại.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Thanh điều hướng dưới cùng có đúng 7 tab theo thứ tự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Ảnh chụp bằng camera thật của điện thoại; toạ độ GPS gửi kèm nếu được cấp quyền.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 2 cách đều tạo cùng một loại yêu cầu nghỉ phép, đi qua cùng luồng duyệt của quản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thao tác quản trị (tạo dự án, chia sẻ thư mục) để lại cho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minh hoạ một ngày của nhân viên kinh doanh; giờ giấc chỉ để tham khảo.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câu trả lời bám đúng hành vi hiện tại của ứng dụng.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9692640" cy="173736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 lang="vi-VN">
                <a:solidFill>
                  <a:srgbClr val="FFFFFF"/>
                </a:solidFill>
                <a:latin typeface="Arial"/>
              </a:rPr>
              <a:t>Giới thiệu ứng dụng di động</a:t>
            </a:r>
            <a:br/>
            <a:r>
              <a:rPr sz="4000" b="1" i="0" lang="vi-VN">
                <a:solidFill>
                  <a:srgbClr val="FFFFFF"/>
                </a:solidFill>
                <a:latin typeface="Arial"/>
              </a:rPr>
              <a:t>cho nhân viên kinh doanh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 lang="vi-VN">
                <a:solidFill>
                  <a:srgbClr val="CFE3DF"/>
                </a:solidFill>
                <a:latin typeface="Arial"/>
              </a:rPr>
              <a:t>Ứng dụng CollabNAnalytic (CNA) trên Android — đồng hành cùng web-app ECAP</a:t>
            </a:r>
          </a:p>
        </p:txBody>
      </p:sp>
      <p:sp>
        <p:nvSpPr>
          <p:cNvPr id="6" name="Huy hiệu SME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vi-VN">
                <a:solidFill>
                  <a:srgbClr val="12343B"/>
                </a:solidFill>
                <a:latin typeface="Arial"/>
              </a:rPr>
              <a:t>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Công ty Demo 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B9CFCB"/>
                </a:solidFill>
                <a:latin typeface="Arial"/>
              </a:rPr>
              <a:t>Dự án Ứng dụng di động bán hàng · 26/10/2026 · Phòng Kinh doanh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2</a:t>
            </a:fld>
          </a:p>
        </p:txBody>
      </p:sp>
      <p:sp>
        <p:nvSpPr>
          <p:cNvPr id="5" name="Mục 1"/>
          <p:cNvSpPr/>
          <p:nvPr/>
        </p:nvSpPr>
        <p:spPr>
          <a:xfrm>
            <a:off x="548640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Lợi ích cho nhân viên kinh doanh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Làm việc ngoài văn phòng thuận tiện hơn</a:t>
            </a:r>
          </a:p>
        </p:txBody>
      </p:sp>
      <p:sp>
        <p:nvSpPr>
          <p:cNvPr id="8" name="Mục 2"/>
          <p:cNvSpPr/>
          <p:nvPr/>
        </p:nvSpPr>
        <p:spPr>
          <a:xfrm>
            <a:off x="548640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uy hiệu 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7 tab chính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Đúng thứ tự trên thanh điều hướng</a:t>
            </a:r>
          </a:p>
        </p:txBody>
      </p:sp>
      <p:sp>
        <p:nvSpPr>
          <p:cNvPr id="11" name="Mục 3"/>
          <p:cNvSpPr/>
          <p:nvPr/>
        </p:nvSpPr>
        <p:spPr>
          <a:xfrm>
            <a:off x="548640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uy hiệu 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Chấm công có ảnh và GPS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Vào làm, ra về ngay tại điểm hẹn</a:t>
            </a:r>
          </a:p>
        </p:txBody>
      </p:sp>
      <p:sp>
        <p:nvSpPr>
          <p:cNvPr id="14" name="Mục 4"/>
          <p:cNvSpPr/>
          <p:nvPr/>
        </p:nvSpPr>
        <p:spPr>
          <a:xfrm>
            <a:off x="6278727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4"/>
          <p:cNvSpPr/>
          <p:nvPr/>
        </p:nvSpPr>
        <p:spPr>
          <a:xfrm>
            <a:off x="6507327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Nghỉ phép và Hẹn lịch nghỉ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Từ tab Nghỉ phép hoặc ngay trong chat</a:t>
            </a:r>
          </a:p>
        </p:txBody>
      </p:sp>
      <p:sp>
        <p:nvSpPr>
          <p:cNvPr id="17" name="Mục 5"/>
          <p:cNvSpPr/>
          <p:nvPr/>
        </p:nvSpPr>
        <p:spPr>
          <a:xfrm>
            <a:off x="6278727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5"/>
          <p:cNvSpPr/>
          <p:nvPr/>
        </p:nvSpPr>
        <p:spPr>
          <a:xfrm>
            <a:off x="6507327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Công việc, tài liệu, nhắn tin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Những việc thường làm hằng ngày</a:t>
            </a:r>
          </a:p>
        </p:txBody>
      </p:sp>
      <p:sp>
        <p:nvSpPr>
          <p:cNvPr id="20" name="Mục 6"/>
          <p:cNvSpPr/>
          <p:nvPr/>
        </p:nvSpPr>
        <p:spPr>
          <a:xfrm>
            <a:off x="6278727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y hiệu 6"/>
          <p:cNvSpPr/>
          <p:nvPr/>
        </p:nvSpPr>
        <p:spPr>
          <a:xfrm>
            <a:off x="6507327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Một ngày làm việc và hỏi đáp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Ví dụ thực tế, câu hỏi thường gặp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Lợi ích cho nhân viên kinh doanh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3</a:t>
            </a:fld>
          </a:p>
        </p:txBody>
      </p:sp>
      <p:sp>
        <p:nvSpPr>
          <p:cNvPr id="5" name="Thẻ Chấm công tại điểm hẹn"/>
          <p:cNvSpPr/>
          <p:nvPr/>
        </p:nvSpPr>
        <p:spPr>
          <a:xfrm>
            <a:off x="548640" y="137160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Chấm công tại điểm hẹn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Vào làm, ra về bằng ảnh chụp camera; vị trí GPS gắn cờ Tại văn phòng hoặc Ngoài văn phòng</a:t>
            </a:r>
          </a:p>
        </p:txBody>
      </p:sp>
      <p:sp>
        <p:nvSpPr>
          <p:cNvPr id="9" name="Thẻ Xin nghỉ trong vài chạm"/>
          <p:cNvSpPr/>
          <p:nvPr/>
        </p:nvSpPr>
        <p:spPr>
          <a:xfrm>
            <a:off x="4526279" y="137160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727447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157276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Xin nghỉ trong vài chạm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7" y="212140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Tạo yêu cầu nghỉ phép, hoặc bấm Hẹn lịch nghỉ ngay dưới tin nhắn của mình</a:t>
            </a:r>
          </a:p>
        </p:txBody>
      </p:sp>
      <p:sp>
        <p:nvSpPr>
          <p:cNvPr id="13" name="Thẻ Việc và tài liệu luôn bên mình"/>
          <p:cNvSpPr/>
          <p:nvPr/>
        </p:nvSpPr>
        <p:spPr>
          <a:xfrm>
            <a:off x="548640" y="379476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995928"/>
            <a:ext cx="2706624" cy="6339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Việc và tài liệu luôn bên mình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21352"/>
            <a:ext cx="3300984" cy="10668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Xem việc được giao, đổi trạng thái; mở báo giá, catalogue ngay trên điện thoại</a:t>
            </a:r>
          </a:p>
        </p:txBody>
      </p:sp>
      <p:sp>
        <p:nvSpPr>
          <p:cNvPr id="17" name="Thẻ Liên lạc tức thời"/>
          <p:cNvSpPr/>
          <p:nvPr/>
        </p:nvSpPr>
        <p:spPr>
          <a:xfrm>
            <a:off x="4526279" y="379476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4727447" y="399592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399592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Liên lạc tức thời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7" y="454456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Nhắn tin 1:1 hoặc nhóm với đồng nghiệp, tin mới hiện ngay không cần tải lại</a:t>
            </a:r>
          </a:p>
        </p:txBody>
      </p:sp>
      <p:sp>
        <p:nvSpPr>
          <p:cNvPr id="21" name="Khối phạm vi"/>
          <p:cNvSpPr/>
          <p:nvPr/>
        </p:nvSpPr>
        <p:spPr>
          <a:xfrm>
            <a:off x="8503919" y="1371600"/>
            <a:ext cx="3139135" cy="4617720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645920"/>
            <a:ext cx="2590495" cy="41148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1" i="0" lang="vi-VN">
                <a:solidFill>
                  <a:srgbClr val="F2A541"/>
                </a:solidFill>
                <a:latin typeface="Arial"/>
              </a:rPr>
              <a:t>Phạm vi ứng dụng</a:t>
            </a:r>
          </a:p>
          <a:p>
            <a:pPr algn="l">
              <a:spcAft>
                <a:spcPts val="1000"/>
              </a:spcAft>
            </a:pPr>
            <a:r>
              <a:rPr sz="1500" b="0" i="0" lang="vi-VN">
                <a:solidFill>
                  <a:srgbClr val="FFFFFF"/>
                </a:solidFill>
                <a:latin typeface="Arial"/>
              </a:rPr>
              <a:t>Ứng dụng tập trung vào thao tác tự nhiên trên điện thoại.</a:t>
            </a:r>
          </a:p>
          <a:p>
            <a:pPr algn="l">
              <a:spcAft>
                <a:spcPts val="10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Khách hàng, deal, báo cáo và quản trị vẫn làm trên web-app ECAP.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Duyệt nghỉ phép do quản lý thực hiện trên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7 tab chính của ứng dụng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4</a:t>
            </a:fld>
          </a:p>
        </p:txBody>
      </p:sp>
      <p:sp>
        <p:nvSpPr>
          <p:cNvPr id="5" name="Tab Chấm công"/>
          <p:cNvSpPr/>
          <p:nvPr/>
        </p:nvSpPr>
        <p:spPr>
          <a:xfrm>
            <a:off x="548640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1007995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Chấm công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Vào làm, Ra về kèm ảnh; trạng thái Hôm nay và lịch sử</a:t>
            </a:r>
          </a:p>
        </p:txBody>
      </p:sp>
      <p:sp>
        <p:nvSpPr>
          <p:cNvPr id="9" name="Tab Nghỉ phép"/>
          <p:cNvSpPr/>
          <p:nvPr/>
        </p:nvSpPr>
        <p:spPr>
          <a:xfrm>
            <a:off x="2153150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2612506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4590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Nghỉ phép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0310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Tạo yêu cầu; theo dõi Chờ duyệt, Đã duyệt, Đã từ chối</a:t>
            </a:r>
          </a:p>
        </p:txBody>
      </p:sp>
      <p:sp>
        <p:nvSpPr>
          <p:cNvPr id="13" name="Tab Công việc"/>
          <p:cNvSpPr/>
          <p:nvPr/>
        </p:nvSpPr>
        <p:spPr>
          <a:xfrm>
            <a:off x="3757661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4217016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101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Công việc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4821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Việc được giao ở mọi dự án; chuyển trạng thái</a:t>
            </a:r>
          </a:p>
        </p:txBody>
      </p:sp>
      <p:sp>
        <p:nvSpPr>
          <p:cNvPr id="17" name="Tab Tài liệu"/>
          <p:cNvSpPr/>
          <p:nvPr/>
        </p:nvSpPr>
        <p:spPr>
          <a:xfrm>
            <a:off x="5362172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5821527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3612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Tài liệu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9332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Duyệt thư mục, mở file, tải file mới lên</a:t>
            </a:r>
          </a:p>
        </p:txBody>
      </p:sp>
      <p:sp>
        <p:nvSpPr>
          <p:cNvPr id="21" name="Tab Thông báo"/>
          <p:cNvSpPr/>
          <p:nvPr/>
        </p:nvSpPr>
        <p:spPr>
          <a:xfrm>
            <a:off x="6966682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5"/>
          <p:cNvSpPr/>
          <p:nvPr/>
        </p:nvSpPr>
        <p:spPr>
          <a:xfrm>
            <a:off x="7426038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8122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Thông báo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3842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Xem thông báo, đánh dấu đã đọc từng cái hoặc tất cả</a:t>
            </a:r>
          </a:p>
        </p:txBody>
      </p:sp>
      <p:sp>
        <p:nvSpPr>
          <p:cNvPr id="25" name="Tab Nhắn tin"/>
          <p:cNvSpPr/>
          <p:nvPr/>
        </p:nvSpPr>
        <p:spPr>
          <a:xfrm>
            <a:off x="8571193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uy hiệu 6"/>
          <p:cNvSpPr/>
          <p:nvPr/>
        </p:nvSpPr>
        <p:spPr>
          <a:xfrm>
            <a:off x="9030549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2633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Nhắn tin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8353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Trò chuyện 1:1 và nhóm, số tin chưa đọc</a:t>
            </a:r>
          </a:p>
        </p:txBody>
      </p:sp>
      <p:sp>
        <p:nvSpPr>
          <p:cNvPr id="29" name="Tab Hồ sơ"/>
          <p:cNvSpPr/>
          <p:nvPr/>
        </p:nvSpPr>
        <p:spPr>
          <a:xfrm>
            <a:off x="10175704" y="1371600"/>
            <a:ext cx="1467350" cy="41605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uy hiệu 7"/>
          <p:cNvSpPr/>
          <p:nvPr/>
        </p:nvSpPr>
        <p:spPr>
          <a:xfrm>
            <a:off x="10635059" y="164592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7144" y="2377440"/>
            <a:ext cx="128447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Hồ sơ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2864" y="2971800"/>
            <a:ext cx="1193030" cy="23774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Thông tin cá nhân chỉ để xem; đăng xuất</a:t>
            </a:r>
          </a:p>
        </p:txBody>
      </p:sp>
      <p:sp>
        <p:nvSpPr>
          <p:cNvPr id="33" name="Thanh điều hướng"/>
          <p:cNvSpPr/>
          <p:nvPr/>
        </p:nvSpPr>
        <p:spPr>
          <a:xfrm>
            <a:off x="548640" y="5715000"/>
            <a:ext cx="11094415" cy="457200"/>
          </a:xfrm>
          <a:prstGeom prst="roundRect">
            <a:avLst>
              <a:gd name="adj" fmla="val 30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71500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0" i="0" lang="vi-VN">
                <a:solidFill>
                  <a:srgbClr val="FFFFFF"/>
                </a:solidFill>
                <a:latin typeface="Arial"/>
              </a:rPr>
              <a:t>Thanh điều hướng dưới cùng: Chấm công · Nghỉ phép · Công việc · Tài liệu · Thông báo · Nhắn tin · Hồ sơ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Chấm công có ảnh và GPS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5</a:t>
            </a:fld>
          </a:p>
        </p:txBody>
      </p:sp>
      <p:sp>
        <p:nvSpPr>
          <p:cNvPr id="5" name="Bước Mở tab Chấm công"/>
          <p:cNvSpPr/>
          <p:nvPr/>
        </p:nvSpPr>
        <p:spPr>
          <a:xfrm>
            <a:off x="548640" y="1463040"/>
            <a:ext cx="1926275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560515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Mở tab Chấm công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Xem mục Hôm nay</a:t>
            </a:r>
          </a:p>
        </p:txBody>
      </p:sp>
      <p:cxnSp>
        <p:nvCxnSpPr>
          <p:cNvPr id="8" name="Mũi tên"/>
          <p:cNvCxnSpPr/>
          <p:nvPr/>
        </p:nvCxnSpPr>
        <p:spPr>
          <a:xfrm>
            <a:off x="2529779" y="2468880"/>
            <a:ext cx="25603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ước Bấm Vào làm"/>
          <p:cNvSpPr/>
          <p:nvPr/>
        </p:nvSpPr>
        <p:spPr>
          <a:xfrm>
            <a:off x="2840675" y="1463040"/>
            <a:ext cx="1926275" cy="2011680"/>
          </a:xfrm>
          <a:prstGeom prst="roundRect">
            <a:avLst>
              <a:gd name="adj" fmla="val 6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3023555" y="164592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3555" y="2240280"/>
            <a:ext cx="1560515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 lang="vi-VN">
                <a:solidFill>
                  <a:srgbClr val="FFFFFF"/>
                </a:solidFill>
                <a:latin typeface="Arial"/>
              </a:rPr>
              <a:t>Bấm Vào làm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DCEBE8"/>
                </a:solidFill>
                <a:latin typeface="Arial"/>
              </a:rPr>
              <a:t>Ứng dụng mở camera</a:t>
            </a:r>
          </a:p>
        </p:txBody>
      </p:sp>
      <p:cxnSp>
        <p:nvCxnSpPr>
          <p:cNvPr id="12" name="Mũi tên"/>
          <p:cNvCxnSpPr/>
          <p:nvPr/>
        </p:nvCxnSpPr>
        <p:spPr>
          <a:xfrm>
            <a:off x="4821814" y="2468880"/>
            <a:ext cx="25603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ước Chụp ảnh"/>
          <p:cNvSpPr/>
          <p:nvPr/>
        </p:nvSpPr>
        <p:spPr>
          <a:xfrm>
            <a:off x="5132710" y="1463040"/>
            <a:ext cx="1926275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5315590" y="164592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5590" y="2240280"/>
            <a:ext cx="1560515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Chụp ảnh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Toạ độ GPS gửi kèm nếu có quyền vị trí</a:t>
            </a:r>
          </a:p>
        </p:txBody>
      </p:sp>
      <p:cxnSp>
        <p:nvCxnSpPr>
          <p:cNvPr id="16" name="Mũi tên"/>
          <p:cNvCxnSpPr/>
          <p:nvPr/>
        </p:nvCxnSpPr>
        <p:spPr>
          <a:xfrm>
            <a:off x="7113849" y="2468880"/>
            <a:ext cx="25603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ước Kiểm tra Hôm nay"/>
          <p:cNvSpPr/>
          <p:nvPr/>
        </p:nvSpPr>
        <p:spPr>
          <a:xfrm>
            <a:off x="7424745" y="1463040"/>
            <a:ext cx="1926275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7607625" y="164592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625" y="2240280"/>
            <a:ext cx="1560515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Kiểm tra Hôm nay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Giờ vào làm và cờ vị trí</a:t>
            </a:r>
          </a:p>
        </p:txBody>
      </p:sp>
      <p:cxnSp>
        <p:nvCxnSpPr>
          <p:cNvPr id="20" name="Mũi tên"/>
          <p:cNvCxnSpPr/>
          <p:nvPr/>
        </p:nvCxnSpPr>
        <p:spPr>
          <a:xfrm>
            <a:off x="9405884" y="2468880"/>
            <a:ext cx="256032" cy="0"/>
          </a:xfrm>
          <a:prstGeom prst="line">
            <a:avLst/>
          </a:prstGeom>
          <a:ln w="25400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ước Cuối ngày bấm Ra về"/>
          <p:cNvSpPr/>
          <p:nvPr/>
        </p:nvSpPr>
        <p:spPr>
          <a:xfrm>
            <a:off x="9716780" y="1463040"/>
            <a:ext cx="1926275" cy="2011680"/>
          </a:xfrm>
          <a:prstGeom prst="roundRect">
            <a:avLst>
              <a:gd name="adj" fmla="val 6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5"/>
          <p:cNvSpPr/>
          <p:nvPr/>
        </p:nvSpPr>
        <p:spPr>
          <a:xfrm>
            <a:off x="9899660" y="164592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9660" y="2240280"/>
            <a:ext cx="1560515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 i="0" lang="vi-VN">
                <a:solidFill>
                  <a:srgbClr val="FFFFFF"/>
                </a:solidFill>
                <a:latin typeface="Arial"/>
              </a:rPr>
              <a:t>Cuối ngày bấm Ra về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DCEBE8"/>
                </a:solidFill>
                <a:latin typeface="Arial"/>
              </a:rPr>
              <a:t>Chụp ảnh tương tự</a:t>
            </a:r>
          </a:p>
        </p:txBody>
      </p:sp>
      <p:sp>
        <p:nvSpPr>
          <p:cNvPr id="24" name="Thẻ GPS là tuỳ chọn"/>
          <p:cNvSpPr/>
          <p:nvPr/>
        </p:nvSpPr>
        <p:spPr>
          <a:xfrm>
            <a:off x="548640" y="3840480"/>
            <a:ext cx="3515258" cy="22402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041648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GPS là tuỳ chọn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544568"/>
            <a:ext cx="3112922" cy="133502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Thiếu quyền vị trí hoặc tắt định vị vẫn chấm công được, chỉ không có cờ vị trí</a:t>
            </a:r>
          </a:p>
        </p:txBody>
      </p:sp>
      <p:sp>
        <p:nvSpPr>
          <p:cNvPr id="27" name="Thẻ Cờ vị trí để tham khảo"/>
          <p:cNvSpPr/>
          <p:nvPr/>
        </p:nvSpPr>
        <p:spPr>
          <a:xfrm>
            <a:off x="4338218" y="3840480"/>
            <a:ext cx="3515258" cy="22402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9386" y="4041648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Cờ vị trí để tham khảo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386" y="4544568"/>
            <a:ext cx="3112922" cy="133502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Tại văn phòng hoặc Ngoài văn phòng; quản lý đối chiếu trên web, không chặn chấm công</a:t>
            </a:r>
          </a:p>
        </p:txBody>
      </p:sp>
      <p:sp>
        <p:nvSpPr>
          <p:cNvPr id="30" name="Thẻ Lịch sử chấm công"/>
          <p:cNvSpPr/>
          <p:nvPr/>
        </p:nvSpPr>
        <p:spPr>
          <a:xfrm>
            <a:off x="8127796" y="3840480"/>
            <a:ext cx="3515258" cy="22402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8964" y="4041648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Lịch sử chấm công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964" y="4544568"/>
            <a:ext cx="3112922" cy="133502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Xem lại các lần vào làm, ra về của chính mình ngay trong tab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Nghỉ phép và Hẹn lịch nghỉ qua chat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6</a:t>
            </a:fld>
          </a:p>
        </p:txBody>
      </p:sp>
      <p:sp>
        <p:nvSpPr>
          <p:cNvPr id="5" name="Khối Cách 1: tab Nghỉ phép"/>
          <p:cNvSpPr/>
          <p:nvPr/>
        </p:nvSpPr>
        <p:spPr>
          <a:xfrm>
            <a:off x="548640" y="1371600"/>
            <a:ext cx="5364327" cy="365760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4815687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Cách 1: tab Nghỉ phép</a:t>
            </a:r>
          </a:p>
        </p:txBody>
      </p:sp>
      <p:sp>
        <p:nvSpPr>
          <p:cNvPr id="7" name="Huy hiệu 1"/>
          <p:cNvSpPr/>
          <p:nvPr/>
        </p:nvSpPr>
        <p:spPr>
          <a:xfrm>
            <a:off x="822959" y="22402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1854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Bấm Tạo yêu cầu</a:t>
            </a:r>
          </a:p>
        </p:txBody>
      </p:sp>
      <p:sp>
        <p:nvSpPr>
          <p:cNvPr id="9" name="Huy hiệu 2"/>
          <p:cNvSpPr/>
          <p:nvPr/>
        </p:nvSpPr>
        <p:spPr>
          <a:xfrm>
            <a:off x="822959" y="29260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8712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Chọn ngày bắt đầu và ngày kết thúc</a:t>
            </a:r>
          </a:p>
        </p:txBody>
      </p:sp>
      <p:sp>
        <p:nvSpPr>
          <p:cNvPr id="11" name="Huy hiệu 3"/>
          <p:cNvSpPr/>
          <p:nvPr/>
        </p:nvSpPr>
        <p:spPr>
          <a:xfrm>
            <a:off x="822959" y="36118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5570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Nhập lý do rồi bấm Gửi</a:t>
            </a:r>
          </a:p>
        </p:txBody>
      </p:sp>
      <p:sp>
        <p:nvSpPr>
          <p:cNvPr id="13" name="Huy hiệu 4"/>
          <p:cNvSpPr/>
          <p:nvPr/>
        </p:nvSpPr>
        <p:spPr>
          <a:xfrm>
            <a:off x="822959" y="42976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2428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Theo dõi: Chờ duyệt, Đã duyệt, Đã từ chối</a:t>
            </a:r>
          </a:p>
        </p:txBody>
      </p:sp>
      <p:sp>
        <p:nvSpPr>
          <p:cNvPr id="15" name="Khối Cách 2: ngay trong Nhắn tin"/>
          <p:cNvSpPr/>
          <p:nvPr/>
        </p:nvSpPr>
        <p:spPr>
          <a:xfrm>
            <a:off x="6278727" y="1371600"/>
            <a:ext cx="5364327" cy="365760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1554480"/>
            <a:ext cx="4815687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Cách 2: ngay trong Nhắn tin</a:t>
            </a:r>
          </a:p>
        </p:txBody>
      </p:sp>
      <p:sp>
        <p:nvSpPr>
          <p:cNvPr id="17" name="Huy hiệu 1"/>
          <p:cNvSpPr/>
          <p:nvPr/>
        </p:nvSpPr>
        <p:spPr>
          <a:xfrm>
            <a:off x="6553047" y="22402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7407" y="21854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Gõ tin có ngày nghỉ, ví dụ “Mai em xin nghỉ”</a:t>
            </a:r>
          </a:p>
        </p:txBody>
      </p:sp>
      <p:sp>
        <p:nvSpPr>
          <p:cNvPr id="19" name="Huy hiệu 2"/>
          <p:cNvSpPr/>
          <p:nvPr/>
        </p:nvSpPr>
        <p:spPr>
          <a:xfrm>
            <a:off x="6553047" y="29260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7407" y="28712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Dưới tin của bạn hiện nút Hẹn lịch nghỉ</a:t>
            </a:r>
          </a:p>
        </p:txBody>
      </p:sp>
      <p:sp>
        <p:nvSpPr>
          <p:cNvPr id="21" name="Huy hiệu 3"/>
          <p:cNvSpPr/>
          <p:nvPr/>
        </p:nvSpPr>
        <p:spPr>
          <a:xfrm>
            <a:off x="6553047" y="36118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407" y="35570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Ngày và lý do được điền sẵn, kiểm tra rồi gửi</a:t>
            </a:r>
          </a:p>
        </p:txBody>
      </p:sp>
      <p:sp>
        <p:nvSpPr>
          <p:cNvPr id="23" name="Huy hiệu 4"/>
          <p:cNvSpPr/>
          <p:nvPr/>
        </p:nvSpPr>
        <p:spPr>
          <a:xfrm>
            <a:off x="6553047" y="4297680"/>
            <a:ext cx="438912" cy="438912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242816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Nút đổi thành Đã gửi yêu cầu nghỉ</a:t>
            </a:r>
          </a:p>
        </p:txBody>
      </p:sp>
      <p:sp>
        <p:nvSpPr>
          <p:cNvPr id="25" name="Ghi chú nhận diện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303520"/>
            <a:ext cx="10545775" cy="7772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Ứng dụng nhận ra: </a:t>
            </a:r>
            <a:r>
              <a:rPr sz="1400" b="0" i="0" lang="vi-VN">
                <a:solidFill>
                  <a:srgbClr val="1E2A2E"/>
                </a:solidFill>
                <a:latin typeface="Arial"/>
              </a:rPr>
              <a:t>ngày dd/mm, hôm nay, mai, mốt, thứ trong tuần, “N ngày nữa”, giờ (8h, 8:30). Gõ có dấu hay không dấu đều được; nút chỉ hiện dưới tin nhắn của chính bạn.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Công việc, tài liệu và nhắn tin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7</a:t>
            </a:fld>
          </a:p>
        </p:txBody>
      </p:sp>
      <p:sp>
        <p:nvSpPr>
          <p:cNvPr id="5" name="Thẻ Công việc"/>
          <p:cNvSpPr/>
          <p:nvPr/>
        </p:nvSpPr>
        <p:spPr>
          <a:xfrm>
            <a:off x="548640" y="1371600"/>
            <a:ext cx="3515258" cy="3337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Công việc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3112922" cy="2386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Danh sách việc được giao cho bạn ở mọi dự án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Chuyển trạng thái: Cần làm → Đang làm → Hoàn thành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Tạo việc mới, Kanban kéo thả: dùng web-app</a:t>
            </a:r>
          </a:p>
        </p:txBody>
      </p:sp>
      <p:sp>
        <p:nvSpPr>
          <p:cNvPr id="9" name="Thẻ Tài liệu"/>
          <p:cNvSpPr/>
          <p:nvPr/>
        </p:nvSpPr>
        <p:spPr>
          <a:xfrm>
            <a:off x="4338218" y="1371600"/>
            <a:ext cx="3515258" cy="33375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539386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746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Tài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121408"/>
            <a:ext cx="3112922" cy="2386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Duyệt cây thư mục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Mở file ngay bằng trình xem của điện thoại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Tải file mới lên, ví dụ biên bản gặp khách</a:t>
            </a:r>
          </a:p>
        </p:txBody>
      </p:sp>
      <p:sp>
        <p:nvSpPr>
          <p:cNvPr id="13" name="Thẻ Nhắn tin"/>
          <p:cNvSpPr/>
          <p:nvPr/>
        </p:nvSpPr>
        <p:spPr>
          <a:xfrm>
            <a:off x="8127796" y="1371600"/>
            <a:ext cx="3515258" cy="3337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8328964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3324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Nhắn 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121408"/>
            <a:ext cx="3112922" cy="2386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Tạo trò chuyện 1:1 hoặc nhóm; chọn từ 2 người trở lên thì phải đặt tên nhóm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Tin nhắn cập nhật tức thời</a:t>
            </a:r>
          </a:p>
          <a:p>
            <a:pPr algn="l" marL="228600" indent="-177800">
              <a:spcAft>
                <a:spcPts val="10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Số tin chưa đọc hiện ngay ở danh sách</a:t>
            </a:r>
          </a:p>
        </p:txBody>
      </p:sp>
      <p:sp>
        <p:nvSpPr>
          <p:cNvPr id="17" name="Khối làm trên web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029200"/>
            <a:ext cx="10545775" cy="10058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Làm trên web-app ECAP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FFFFFF"/>
                </a:solidFill>
                <a:latin typeface="Arial"/>
              </a:rPr>
              <a:t>Tạo dự án, tạo việc mới, Kanban kéo thả; tạo, đổi tên, xoá thư mục và chia sẻ tài liệu; quản lý thành viên nhóm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Một ngày làm việc trên ứng dụng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8</a:t>
            </a:fld>
          </a:p>
        </p:txBody>
      </p:sp>
      <p:cxnSp>
        <p:nvCxnSpPr>
          <p:cNvPr id="5" name="Đường kẻ"/>
          <p:cNvCxnSpPr/>
          <p:nvPr/>
        </p:nvCxnSpPr>
        <p:spPr>
          <a:xfrm>
            <a:off x="1282315" y="2240280"/>
            <a:ext cx="9627064" cy="0"/>
          </a:xfrm>
          <a:prstGeom prst="line">
            <a:avLst/>
          </a:prstGeom>
          <a:ln w="38100">
            <a:solidFill>
              <a:srgbClr val="1B6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iờ 08:00"/>
          <p:cNvSpPr/>
          <p:nvPr/>
        </p:nvSpPr>
        <p:spPr>
          <a:xfrm>
            <a:off x="640080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08:00</a:t>
            </a:r>
          </a:p>
        </p:txBody>
      </p:sp>
      <p:sp>
        <p:nvSpPr>
          <p:cNvPr id="7" name="Điểm 08:00"/>
          <p:cNvSpPr/>
          <p:nvPr/>
        </p:nvSpPr>
        <p:spPr>
          <a:xfrm>
            <a:off x="1145155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ốc 08:00"/>
          <p:cNvSpPr/>
          <p:nvPr/>
        </p:nvSpPr>
        <p:spPr>
          <a:xfrm>
            <a:off x="548640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Vào làm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Chấm công có ảnh tại văn phòng</a:t>
            </a:r>
          </a:p>
        </p:txBody>
      </p:sp>
      <p:sp>
        <p:nvSpPr>
          <p:cNvPr id="10" name="Giờ 08:15"/>
          <p:cNvSpPr/>
          <p:nvPr/>
        </p:nvSpPr>
        <p:spPr>
          <a:xfrm>
            <a:off x="2244590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08:15</a:t>
            </a:r>
          </a:p>
        </p:txBody>
      </p:sp>
      <p:sp>
        <p:nvSpPr>
          <p:cNvPr id="11" name="Điểm 08:15"/>
          <p:cNvSpPr/>
          <p:nvPr/>
        </p:nvSpPr>
        <p:spPr>
          <a:xfrm>
            <a:off x="2749666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ốc 08:15"/>
          <p:cNvSpPr/>
          <p:nvPr/>
        </p:nvSpPr>
        <p:spPr>
          <a:xfrm>
            <a:off x="2153150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2878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Xem việc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Thông báo và Công việc mới được giao</a:t>
            </a:r>
          </a:p>
        </p:txBody>
      </p:sp>
      <p:sp>
        <p:nvSpPr>
          <p:cNvPr id="14" name="Giờ 10:00"/>
          <p:cNvSpPr/>
          <p:nvPr/>
        </p:nvSpPr>
        <p:spPr>
          <a:xfrm>
            <a:off x="3849101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10:00</a:t>
            </a:r>
          </a:p>
        </p:txBody>
      </p:sp>
      <p:sp>
        <p:nvSpPr>
          <p:cNvPr id="15" name="Điểm 10:00"/>
          <p:cNvSpPr/>
          <p:nvPr/>
        </p:nvSpPr>
        <p:spPr>
          <a:xfrm>
            <a:off x="4354176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ốc 10:00"/>
          <p:cNvSpPr/>
          <p:nvPr/>
        </p:nvSpPr>
        <p:spPr>
          <a:xfrm>
            <a:off x="3757661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389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Gặp khách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Mở báo giá, catalogue trong Tài liệu</a:t>
            </a:r>
          </a:p>
        </p:txBody>
      </p:sp>
      <p:sp>
        <p:nvSpPr>
          <p:cNvPr id="18" name="Giờ 11:30"/>
          <p:cNvSpPr/>
          <p:nvPr/>
        </p:nvSpPr>
        <p:spPr>
          <a:xfrm>
            <a:off x="5453612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11:30</a:t>
            </a:r>
          </a:p>
        </p:txBody>
      </p:sp>
      <p:sp>
        <p:nvSpPr>
          <p:cNvPr id="19" name="Điểm 11:30"/>
          <p:cNvSpPr/>
          <p:nvPr/>
        </p:nvSpPr>
        <p:spPr>
          <a:xfrm>
            <a:off x="5958687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ốc 11:30"/>
          <p:cNvSpPr/>
          <p:nvPr/>
        </p:nvSpPr>
        <p:spPr>
          <a:xfrm>
            <a:off x="5362172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1900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Báo kết quả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Nhắn tin nhóm Kinh doanh</a:t>
            </a:r>
          </a:p>
        </p:txBody>
      </p:sp>
      <p:sp>
        <p:nvSpPr>
          <p:cNvPr id="22" name="Giờ 14:00"/>
          <p:cNvSpPr/>
          <p:nvPr/>
        </p:nvSpPr>
        <p:spPr>
          <a:xfrm>
            <a:off x="7058122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14:00</a:t>
            </a:r>
          </a:p>
        </p:txBody>
      </p:sp>
      <p:sp>
        <p:nvSpPr>
          <p:cNvPr id="23" name="Điểm 14:00"/>
          <p:cNvSpPr/>
          <p:nvPr/>
        </p:nvSpPr>
        <p:spPr>
          <a:xfrm>
            <a:off x="7563198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ốc 14:00"/>
          <p:cNvSpPr/>
          <p:nvPr/>
        </p:nvSpPr>
        <p:spPr>
          <a:xfrm>
            <a:off x="6966682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6410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Cập nhật việc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Chuyển sang Đang làm hoặc Hoàn thành</a:t>
            </a:r>
          </a:p>
        </p:txBody>
      </p:sp>
      <p:sp>
        <p:nvSpPr>
          <p:cNvPr id="26" name="Giờ 16:30"/>
          <p:cNvSpPr/>
          <p:nvPr/>
        </p:nvSpPr>
        <p:spPr>
          <a:xfrm>
            <a:off x="8662633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16:30</a:t>
            </a:r>
          </a:p>
        </p:txBody>
      </p:sp>
      <p:sp>
        <p:nvSpPr>
          <p:cNvPr id="27" name="Điểm 16:30"/>
          <p:cNvSpPr/>
          <p:nvPr/>
        </p:nvSpPr>
        <p:spPr>
          <a:xfrm>
            <a:off x="9167709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ốc 16:30"/>
          <p:cNvSpPr/>
          <p:nvPr/>
        </p:nvSpPr>
        <p:spPr>
          <a:xfrm>
            <a:off x="8571193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0921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Lưu biên bản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Tải biên bản gặp khách lên Tài liệu</a:t>
            </a:r>
          </a:p>
        </p:txBody>
      </p:sp>
      <p:sp>
        <p:nvSpPr>
          <p:cNvPr id="30" name="Giờ 17:30"/>
          <p:cNvSpPr/>
          <p:nvPr/>
        </p:nvSpPr>
        <p:spPr>
          <a:xfrm>
            <a:off x="10267144" y="1463040"/>
            <a:ext cx="128447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17:30</a:t>
            </a:r>
          </a:p>
        </p:txBody>
      </p:sp>
      <p:sp>
        <p:nvSpPr>
          <p:cNvPr id="31" name="Điểm 17:30"/>
          <p:cNvSpPr/>
          <p:nvPr/>
        </p:nvSpPr>
        <p:spPr>
          <a:xfrm>
            <a:off x="10772219" y="2103120"/>
            <a:ext cx="274320" cy="274320"/>
          </a:xfrm>
          <a:prstGeom prst="ellipse">
            <a:avLst/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ốc 17:30"/>
          <p:cNvSpPr/>
          <p:nvPr/>
        </p:nvSpPr>
        <p:spPr>
          <a:xfrm>
            <a:off x="10175704" y="2606040"/>
            <a:ext cx="1467350" cy="26974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5432" y="2743200"/>
            <a:ext cx="1247894" cy="24231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Ra về</a:t>
            </a:r>
          </a:p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Chấm công; cờ Ngoài văn phòng nếu ở chỗ khách</a:t>
            </a:r>
          </a:p>
        </p:txBody>
      </p:sp>
      <p:sp>
        <p:nvSpPr>
          <p:cNvPr id="34" name="Ghi chú CRM"/>
          <p:cNvSpPr/>
          <p:nvPr/>
        </p:nvSpPr>
        <p:spPr>
          <a:xfrm>
            <a:off x="548640" y="5486400"/>
            <a:ext cx="11094415" cy="594360"/>
          </a:xfrm>
          <a:prstGeom prst="roundRect">
            <a:avLst>
              <a:gd name="adj" fmla="val 30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486400"/>
            <a:ext cx="10545775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FFFFFF"/>
                </a:solidFill>
                <a:latin typeface="Arial"/>
              </a:rPr>
              <a:t>Cập nhật deal và giao dịch của khách trên web-app ECAP khi về văn phòng.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Câu hỏi thường gặp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9</a:t>
            </a:fld>
          </a:p>
        </p:txBody>
      </p:sp>
      <p:sp>
        <p:nvSpPr>
          <p:cNvPr id="5" name="Thẻ Không kết nối được máy chủ?"/>
          <p:cNvSpPr/>
          <p:nvPr/>
        </p:nvSpPr>
        <p:spPr>
          <a:xfrm>
            <a:off x="548640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Không kết nối được máy chủ?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3112922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Kiểm tra Wi-Fi hoặc 4G. Địa chỉ máy chủ do IT cập nhật tập trung, ứng dụng tự lấy khi mở lại</a:t>
            </a:r>
          </a:p>
        </p:txBody>
      </p:sp>
      <p:sp>
        <p:nvSpPr>
          <p:cNvPr id="8" name="Thẻ Quên mật khẩu?"/>
          <p:cNvSpPr/>
          <p:nvPr/>
        </p:nvSpPr>
        <p:spPr>
          <a:xfrm>
            <a:off x="4338218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1572768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Quên mật khẩu?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2075688"/>
            <a:ext cx="3112922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Bấm Quên mật khẩu?, nhận mã qua email, dán mã vào màn hình Đặt lại mật khẩu</a:t>
            </a:r>
          </a:p>
        </p:txBody>
      </p:sp>
      <p:sp>
        <p:nvSpPr>
          <p:cNvPr id="11" name="Thẻ Không bật GPS có chấm công đượ"/>
          <p:cNvSpPr/>
          <p:nvPr/>
        </p:nvSpPr>
        <p:spPr>
          <a:xfrm>
            <a:off x="8127796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8964" y="1572768"/>
            <a:ext cx="3112922" cy="6339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Không bật GPS có chấm công được?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964" y="2298192"/>
            <a:ext cx="3112922" cy="10210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Được. Ứng dụng vẫn chấm công, chỉ không hiện cờ vị trí</a:t>
            </a:r>
          </a:p>
        </p:txBody>
      </p:sp>
      <p:sp>
        <p:nvSpPr>
          <p:cNvPr id="14" name="Thẻ Sửa hồ sơ cá nhân ở đâu?"/>
          <p:cNvSpPr/>
          <p:nvPr/>
        </p:nvSpPr>
        <p:spPr>
          <a:xfrm>
            <a:off x="548640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50207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Sửa hồ sơ cá nhân ở đâu?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453127"/>
            <a:ext cx="3112922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Hồ sơ trên ứng dụng chỉ để xem; cần sửa thì liên hệ quản trị hệ thống</a:t>
            </a:r>
          </a:p>
        </p:txBody>
      </p:sp>
      <p:sp>
        <p:nvSpPr>
          <p:cNvPr id="17" name="Thẻ Cập nhật deal trên ứng dụng?"/>
          <p:cNvSpPr/>
          <p:nvPr/>
        </p:nvSpPr>
        <p:spPr>
          <a:xfrm>
            <a:off x="4338218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9386" y="3950207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Cập nhật deal trên ứng dụng?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386" y="4453127"/>
            <a:ext cx="3112922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Chưa hỗ trợ. Khách hàng và deal quản lý trên web-app ECAP</a:t>
            </a:r>
          </a:p>
        </p:txBody>
      </p:sp>
      <p:sp>
        <p:nvSpPr>
          <p:cNvPr id="20" name="Thẻ Thông báo không tự cập nhật?"/>
          <p:cNvSpPr/>
          <p:nvPr/>
        </p:nvSpPr>
        <p:spPr>
          <a:xfrm>
            <a:off x="8127796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8964" y="3950207"/>
            <a:ext cx="3112922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Thông báo không tự cập nhật?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4453127"/>
            <a:ext cx="3112922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Kéo màn hình Thông báo xuống để làm mới danh sách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88720"/>
            <a:ext cx="10728655" cy="10972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800" b="1" i="0" lang="vi-VN">
                <a:solidFill>
                  <a:srgbClr val="FFFFFF"/>
                </a:solidFill>
                <a:latin typeface="Arial"/>
              </a:rPr>
              <a:t>Bắt đầu sử dụng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10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Cài file APK do IT cung cấp trên điện thoại Android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Cho phép quyền camera và vị trí khi ứng dụng hỏi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Đăng nhập bằng tài khoản đang dùng trên web-app ECAP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Chấm công Vào làm ngay từ sáng mai</a:t>
            </a:r>
          </a:p>
        </p:txBody>
      </p:sp>
      <p:sp>
        <p:nvSpPr>
          <p:cNvPr id="6" name="Khối liên hệ"/>
          <p:cNvSpPr/>
          <p:nvPr/>
        </p:nvSpPr>
        <p:spPr>
          <a:xfrm>
            <a:off x="8549640" y="2514600"/>
            <a:ext cx="3090672" cy="2926080"/>
          </a:xfrm>
          <a:prstGeom prst="roundRect">
            <a:avLst>
              <a:gd name="adj" fmla="val 6000"/>
            </a:avLst>
          </a:prstGeom>
          <a:solidFill>
            <a:srgbClr val="1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69748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Hỗ trợ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Bộ phận IT nội bộ.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Xem thêm: Hướng dẫn sử dụng và Hướng dẫn cài đặt ứng dụng di động ECAP.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 S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E8F1EF"/>
      </a:lt2>
      <a:accent1>
        <a:srgbClr val="1B6F6A"/>
      </a:accent1>
      <a:accent2>
        <a:srgbClr val="F2A541"/>
      </a:accent2>
      <a:accent3>
        <a:srgbClr val="5B8DB8"/>
      </a:accent3>
      <a:accent4>
        <a:srgbClr val="C8553D"/>
      </a:accent4>
      <a:accent5>
        <a:srgbClr val="2E8B57"/>
      </a:accent5>
      <a:accent6>
        <a:srgbClr val="8E7CC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ứng dụng di động cho nhân viên kinh doanh</dc:title>
  <dc:subject>Dự án Ứng dụng di động bán hàng — ứng dụng CollabNAnalytic (CNA)</dc:subject>
  <dc:creator>Công ty Demo SME</dc:creator>
  <cp:keywords>ECAP; Công ty Demo SME; minh hoạ đồ án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