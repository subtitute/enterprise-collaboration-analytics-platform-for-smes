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 lang="vi-VN">
                <a:solidFill>
                  <a:srgbClr val="12343B"/>
                </a:solidFill>
                <a:latin typeface="Arial"/>
              </a:rPr>
              <a:t>RAM (GB) — số đo 24/10/2026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</c:v>
                </c:pt>
              </c:strCache>
            </c:strRef>
          </c:tx>
          <c:spPr>
            <a:solidFill>
              <a:srgbClr val="1B6F6A"/>
            </a:solidFill>
          </c:spPr>
          <c:dPt>
            <c:idx val="0"/>
            <c:spPr>
              <a:solidFill>
                <a:srgbClr val="1B6F6A"/>
              </a:solidFill>
            </c:spPr>
          </c:dPt>
          <c:dPt>
            <c:idx val="1"/>
            <c:spPr>
              <a:solidFill>
                <a:srgbClr val="5F6F73"/>
              </a:solidFill>
            </c:spPr>
          </c:dPt>
          <c:dPt>
            <c:idx val="2"/>
            <c:spPr>
              <a:solidFill>
                <a:srgbClr val="C8553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~1,8 GB (1,5–2,1)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5 GB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6,4 GB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Tổng RAM container sau tối ưu</c:v>
                </c:pt>
                <c:pt idx="1">
                  <c:v>Trần máy ảo sau tối ưu</c:v>
                </c:pt>
                <c:pt idx="2">
                  <c:v>Máy ảo WSL2 trước tối ưu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5.0</c:v>
                </c:pt>
                <c:pt idx="2">
                  <c:v>6.4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9D6D3"/>
            </a:solidFill>
          </a:ln>
        </c:spPr>
        <c:txPr>
          <a:bodyPr/>
          <a:lstStyle/>
          <a:p>
            <a:pPr>
              <a:defRPr sz="1200">
                <a:solidFill>
                  <a:srgbClr val="1E2A2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b"/>
        <c:majorGridlines>
          <c:spPr>
            <a:ln w="9525">
              <a:solidFill>
                <a:srgbClr val="DDE5E3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F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F7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 lang="vi-VN">
                <a:solidFill>
                  <a:srgbClr val="12343B"/>
                </a:solidFill>
                <a:latin typeface="Arial"/>
              </a:rPr>
              <a:t>Độ trễ tới fact_task_events (mili giây)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Mili giây</c:v>
                </c:pt>
              </c:strCache>
            </c:strRef>
          </c:tx>
          <c:spPr>
            <a:solidFill>
              <a:srgbClr val="1B6F6A"/>
            </a:solidFill>
          </c:spPr>
          <c:dPt>
            <c:idx val="0"/>
            <c:spPr>
              <a:solidFill>
                <a:srgbClr val="5F6F73"/>
              </a:solidFill>
            </c:spPr>
          </c:dPt>
          <c:dPt>
            <c:idx val="1"/>
            <c:spPr>
              <a:solidFill>
                <a:srgbClr val="1B6F6A"/>
              </a:solidFill>
            </c:spPr>
          </c:dPt>
          <c:dPt>
            <c:idx val="2"/>
            <c:spPr>
              <a:solidFill>
                <a:srgbClr val="2F8F8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~2,0 giây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0,40 giây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0,62 giây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Outbox polling</c:v>
                </c:pt>
                <c:pt idx="1">
                  <c:v>CDC nhanh nhất</c:v>
                </c:pt>
                <c:pt idx="2">
                  <c:v>CDC chậm nhất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</c:v>
                </c:pt>
                <c:pt idx="1">
                  <c:v>400</c:v>
                </c:pt>
                <c:pt idx="2">
                  <c:v>620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D6D3"/>
            </a:solidFill>
          </a:ln>
        </c:spPr>
        <c:txPr>
          <a:bodyPr/>
          <a:lstStyle/>
          <a:p>
            <a:pPr>
              <a:defRPr sz="1200">
                <a:solidFill>
                  <a:srgbClr val="1E2A2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00.0"/>
          <c:min val="0.0"/>
        </c:scaling>
        <c:delete val="0"/>
        <c:axPos val="l"/>
        <c:majorGridlines>
          <c:spPr>
            <a:ln w="9525">
              <a:solidFill>
                <a:srgbClr val="DDE5E3"/>
              </a:solidFill>
            </a:ln>
          </c:spPr>
        </c:majorGridlines>
        <c:numFmt formatCode="[&gt;=1000]#\.##0;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F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F7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Mọi con số trong báo cáo là số đo thật trên hệ thống ECAP, không phải số liệu minh hoạ.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service sở hữu cơ sở dữ liệu riêng; thay đổi lan truyền qua Kafka, không gọi HTTP chéo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nguyên tắc này được giữ nguyên trong mọi đợt tối ưu tài nguyên.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Nguyên nhân gốc là máy ảo WSL2 không có giới hạn RAM, không phải do số lượng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thay đổi cấu hình hạ tầng; không có service nghiệp vụ nào bị gỡ bỏ.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Tổng RAM container đo được khoảng 1,8GB, dao động khoảng 1,5–2,1GB theo thời điểm đo.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 tuỳ chọn cdc, phạm vi project-task-service. Mặc định hệ thống vẫn dùng Outbox polling.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Đo từ lúc PATCH /tasks/:id/status trả về tới khi có bản ghi trong fact_task_events, 6 mẫu.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Nguyên tắc: luôn có ít nhất 1 nguồn publish; chỉ đánh dấu published khi Kafka đã xác nhận.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Lỗi mức độ CAO có từ trước, phát hiện khi rà soát CDC ngày 25/10/2026.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Nguồn: Technical_Spec.md §1, §25, §26.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11680"/>
            <a:ext cx="9692640" cy="173736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 lang="vi-VN">
                <a:solidFill>
                  <a:srgbClr val="FFFFFF"/>
                </a:solidFill>
                <a:latin typeface="Arial"/>
              </a:rPr>
              <a:t>Báo cáo kiến trúc hạ tầng</a:t>
            </a:r>
            <a:br/>
            <a:r>
              <a:rPr sz="4000" b="1" i="0" lang="vi-VN">
                <a:solidFill>
                  <a:srgbClr val="FFFFFF"/>
                </a:solidFill>
                <a:latin typeface="Arial"/>
              </a:rPr>
              <a:t>và kết quả tối ưu tài nguyên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B9CFCB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B9CFCB"/>
                </a:solidFill>
                <a:latin typeface="Arial"/>
              </a:rPr>
              <a:t>1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 lang="vi-VN">
                <a:solidFill>
                  <a:srgbClr val="CFE3DF"/>
                </a:solidFill>
                <a:latin typeface="Arial"/>
              </a:rPr>
              <a:t>Dự án Nâng cấp hạ tầng Docker — số đo thực tế ngày 24–25/10/2026</a:t>
            </a:r>
          </a:p>
        </p:txBody>
      </p:sp>
      <p:sp>
        <p:nvSpPr>
          <p:cNvPr id="6" name="Huy hiệu SME"/>
          <p:cNvSpPr/>
          <p:nvPr/>
        </p:nvSpPr>
        <p:spPr>
          <a:xfrm>
            <a:off x="731520" y="12344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vi-VN">
                <a:solidFill>
                  <a:srgbClr val="12343B"/>
                </a:solidFill>
                <a:latin typeface="Arial"/>
              </a:rPr>
              <a:t>SME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Công ty Demo 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B9CFCB"/>
                </a:solidFill>
                <a:latin typeface="Arial"/>
              </a:rPr>
              <a:t>Trình Ban giám đốc và giảng viên hướng dẫn · 26/10/2026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Nội dung trình bày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2</a:t>
            </a:fld>
          </a:p>
        </p:txBody>
      </p:sp>
      <p:sp>
        <p:nvSpPr>
          <p:cNvPr id="5" name="Mục 1"/>
          <p:cNvSpPr/>
          <p:nvPr/>
        </p:nvSpPr>
        <p:spPr>
          <a:xfrm>
            <a:off x="548640" y="146304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Kiến trúc tổng thể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Microservice, API Gateway, Kafka</a:t>
            </a:r>
          </a:p>
        </p:txBody>
      </p:sp>
      <p:sp>
        <p:nvSpPr>
          <p:cNvPr id="8" name="Mục 2"/>
          <p:cNvSpPr/>
          <p:nvPr/>
        </p:nvSpPr>
        <p:spPr>
          <a:xfrm>
            <a:off x="548640" y="292608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uy hiệu 2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7180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Bài toán tài nguyên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Docker Desktop tự tắt trên máy phát triển</a:t>
            </a:r>
          </a:p>
        </p:txBody>
      </p:sp>
      <p:sp>
        <p:nvSpPr>
          <p:cNvPr id="11" name="Mục 3"/>
          <p:cNvSpPr/>
          <p:nvPr/>
        </p:nvSpPr>
        <p:spPr>
          <a:xfrm>
            <a:off x="548640" y="438912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uy hiệu 3"/>
          <p:cNvSpPr/>
          <p:nvPr/>
        </p:nvSpPr>
        <p:spPr>
          <a:xfrm>
            <a:off x="777240" y="475488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43484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Kết quả giảm RAM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Giới hạn máy ảo, giới hạn từng container</a:t>
            </a:r>
          </a:p>
        </p:txBody>
      </p:sp>
      <p:sp>
        <p:nvSpPr>
          <p:cNvPr id="14" name="Mục 4"/>
          <p:cNvSpPr/>
          <p:nvPr/>
        </p:nvSpPr>
        <p:spPr>
          <a:xfrm>
            <a:off x="6278727" y="146304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uy hiệu 4"/>
          <p:cNvSpPr/>
          <p:nvPr/>
        </p:nvSpPr>
        <p:spPr>
          <a:xfrm>
            <a:off x="6507327" y="182880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4567" y="150876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CDC bằng Debezium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Độ trễ 2,0 giây xuống 0,40–0,62 giây</a:t>
            </a:r>
          </a:p>
        </p:txBody>
      </p:sp>
      <p:sp>
        <p:nvSpPr>
          <p:cNvPr id="17" name="Mục 5"/>
          <p:cNvSpPr/>
          <p:nvPr/>
        </p:nvSpPr>
        <p:spPr>
          <a:xfrm>
            <a:off x="6278727" y="292608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5"/>
          <p:cNvSpPr/>
          <p:nvPr/>
        </p:nvSpPr>
        <p:spPr>
          <a:xfrm>
            <a:off x="6507327" y="32918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297180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Độ tin cậy dữ liệu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Không mất sự kiện, Kafka lưu bền vững</a:t>
            </a:r>
          </a:p>
        </p:txBody>
      </p:sp>
      <p:sp>
        <p:nvSpPr>
          <p:cNvPr id="20" name="Mục 6"/>
          <p:cNvSpPr/>
          <p:nvPr/>
        </p:nvSpPr>
        <p:spPr>
          <a:xfrm>
            <a:off x="6278727" y="438912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uy hiệu 6"/>
          <p:cNvSpPr/>
          <p:nvPr/>
        </p:nvSpPr>
        <p:spPr>
          <a:xfrm>
            <a:off x="6507327" y="475488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4567" y="443484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Bài học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Giới hạn đã biết, hướng tiếp theo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Kiến trúc microservice và Kafka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3</a:t>
            </a:fld>
          </a:p>
        </p:txBody>
      </p:sp>
      <p:sp>
        <p:nvSpPr>
          <p:cNvPr id="5" name="Client Web-app"/>
          <p:cNvSpPr/>
          <p:nvPr/>
        </p:nvSpPr>
        <p:spPr>
          <a:xfrm>
            <a:off x="548640" y="1371600"/>
            <a:ext cx="5410047" cy="566928"/>
          </a:xfrm>
          <a:prstGeom prst="roundRect">
            <a:avLst>
              <a:gd name="adj" fmla="val 20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Web-app  </a:t>
            </a:r>
            <a:r>
              <a:rPr sz="1400" b="0" i="0" lang="vi-VN">
                <a:solidFill>
                  <a:srgbClr val="5F6F73"/>
                </a:solidFill>
                <a:latin typeface="Arial"/>
              </a:rPr>
              <a:t>React SPA</a:t>
            </a:r>
          </a:p>
        </p:txBody>
      </p:sp>
      <p:sp>
        <p:nvSpPr>
          <p:cNvPr id="6" name="Client Ứng dụng di động CNA"/>
          <p:cNvSpPr/>
          <p:nvPr/>
        </p:nvSpPr>
        <p:spPr>
          <a:xfrm>
            <a:off x="6233007" y="1371600"/>
            <a:ext cx="5410047" cy="566928"/>
          </a:xfrm>
          <a:prstGeom prst="roundRect">
            <a:avLst>
              <a:gd name="adj" fmla="val 20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Ứng dụng di động CNA  </a:t>
            </a:r>
            <a:r>
              <a:rPr sz="1400" b="0" i="0" lang="vi-VN">
                <a:solidFill>
                  <a:srgbClr val="5F6F73"/>
                </a:solidFill>
                <a:latin typeface="Arial"/>
              </a:rPr>
              <a:t>Flutter, Android</a:t>
            </a:r>
          </a:p>
        </p:txBody>
      </p:sp>
      <p:sp>
        <p:nvSpPr>
          <p:cNvPr id="7" name="API Gateway"/>
          <p:cNvSpPr/>
          <p:nvPr/>
        </p:nvSpPr>
        <p:spPr>
          <a:xfrm>
            <a:off x="548640" y="2240280"/>
            <a:ext cx="11094415" cy="566928"/>
          </a:xfrm>
          <a:prstGeom prst="roundRect">
            <a:avLst>
              <a:gd name="adj" fmla="val 20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FFFFFF"/>
                </a:solidFill>
                <a:latin typeface="Arial"/>
              </a:rPr>
              <a:t>API Gateway (NestJS)  </a:t>
            </a:r>
            <a:r>
              <a:rPr sz="1400" b="0" i="0" lang="vi-VN">
                <a:solidFill>
                  <a:srgbClr val="FFFFFF"/>
                </a:solidFill>
                <a:latin typeface="Arial"/>
              </a:rPr>
              <a:t>điểm vào duy nhất: xác thực, định tuyến, giới hạn tần suất</a:t>
            </a:r>
          </a:p>
        </p:txBody>
      </p:sp>
      <p:cxnSp>
        <p:nvCxnSpPr>
          <p:cNvPr id="8" name="Mũi tên"/>
          <p:cNvCxnSpPr/>
          <p:nvPr/>
        </p:nvCxnSpPr>
        <p:spPr>
          <a:xfrm>
            <a:off x="3253663" y="1956816"/>
            <a:ext cx="0" cy="256032"/>
          </a:xfrm>
          <a:prstGeom prst="line">
            <a:avLst/>
          </a:prstGeom>
          <a:ln w="22225">
            <a:solidFill>
              <a:srgbClr val="5F6F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ũi tên"/>
          <p:cNvCxnSpPr/>
          <p:nvPr/>
        </p:nvCxnSpPr>
        <p:spPr>
          <a:xfrm>
            <a:off x="8938031" y="1956816"/>
            <a:ext cx="0" cy="256032"/>
          </a:xfrm>
          <a:prstGeom prst="line">
            <a:avLst/>
          </a:prstGeom>
          <a:ln w="22225">
            <a:solidFill>
              <a:srgbClr val="5F6F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IAM"/>
          <p:cNvSpPr/>
          <p:nvPr/>
        </p:nvSpPr>
        <p:spPr>
          <a:xfrm>
            <a:off x="548640" y="3108960"/>
            <a:ext cx="2072579" cy="73152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IAM</a:t>
            </a:r>
          </a:p>
          <a:p>
            <a:pPr algn="ctr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PostgreSQL</a:t>
            </a:r>
          </a:p>
        </p:txBody>
      </p:sp>
      <p:sp>
        <p:nvSpPr>
          <p:cNvPr id="11" name="Service Dự án &amp; Công việc"/>
          <p:cNvSpPr/>
          <p:nvPr/>
        </p:nvSpPr>
        <p:spPr>
          <a:xfrm>
            <a:off x="2804099" y="3108960"/>
            <a:ext cx="2072579" cy="73152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Dự án &amp; Công việc</a:t>
            </a:r>
          </a:p>
          <a:p>
            <a:pPr algn="ctr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PostgreSQL</a:t>
            </a:r>
          </a:p>
        </p:txBody>
      </p:sp>
      <p:sp>
        <p:nvSpPr>
          <p:cNvPr id="12" name="Service Tài liệu"/>
          <p:cNvSpPr/>
          <p:nvPr/>
        </p:nvSpPr>
        <p:spPr>
          <a:xfrm>
            <a:off x="5059558" y="3108960"/>
            <a:ext cx="2072579" cy="73152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Tài liệu</a:t>
            </a:r>
          </a:p>
          <a:p>
            <a:pPr algn="ctr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PostgreSQL + MinIO</a:t>
            </a:r>
          </a:p>
        </p:txBody>
      </p:sp>
      <p:sp>
        <p:nvSpPr>
          <p:cNvPr id="13" name="Service Thông báo"/>
          <p:cNvSpPr/>
          <p:nvPr/>
        </p:nvSpPr>
        <p:spPr>
          <a:xfrm>
            <a:off x="7315017" y="3108960"/>
            <a:ext cx="2072579" cy="73152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Thông báo</a:t>
            </a:r>
          </a:p>
          <a:p>
            <a:pPr algn="ctr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MongoDB</a:t>
            </a:r>
          </a:p>
        </p:txBody>
      </p:sp>
      <p:sp>
        <p:nvSpPr>
          <p:cNvPr id="14" name="Service CRM"/>
          <p:cNvSpPr/>
          <p:nvPr/>
        </p:nvSpPr>
        <p:spPr>
          <a:xfrm>
            <a:off x="9570476" y="3108960"/>
            <a:ext cx="2072579" cy="73152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CRM</a:t>
            </a:r>
          </a:p>
          <a:p>
            <a:pPr algn="ctr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PostgreSQL</a:t>
            </a:r>
          </a:p>
        </p:txBody>
      </p:sp>
      <p:sp>
        <p:nvSpPr>
          <p:cNvPr id="15" name="Service HRM"/>
          <p:cNvSpPr/>
          <p:nvPr/>
        </p:nvSpPr>
        <p:spPr>
          <a:xfrm>
            <a:off x="548640" y="3977640"/>
            <a:ext cx="2072579" cy="73152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HRM</a:t>
            </a:r>
          </a:p>
          <a:p>
            <a:pPr algn="ctr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PostgreSQL</a:t>
            </a:r>
          </a:p>
        </p:txBody>
      </p:sp>
      <p:sp>
        <p:nvSpPr>
          <p:cNvPr id="16" name="Service Kho"/>
          <p:cNvSpPr/>
          <p:nvPr/>
        </p:nvSpPr>
        <p:spPr>
          <a:xfrm>
            <a:off x="2804099" y="3977640"/>
            <a:ext cx="2072579" cy="73152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Kho</a:t>
            </a:r>
          </a:p>
          <a:p>
            <a:pPr algn="ctr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PostgreSQL + MinIO</a:t>
            </a:r>
          </a:p>
        </p:txBody>
      </p:sp>
      <p:sp>
        <p:nvSpPr>
          <p:cNvPr id="17" name="Service Nhắn tin"/>
          <p:cNvSpPr/>
          <p:nvPr/>
        </p:nvSpPr>
        <p:spPr>
          <a:xfrm>
            <a:off x="5059558" y="3977640"/>
            <a:ext cx="2072579" cy="73152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Nhắn tin</a:t>
            </a:r>
          </a:p>
          <a:p>
            <a:pPr algn="ctr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PostgreSQL</a:t>
            </a:r>
          </a:p>
        </p:txBody>
      </p:sp>
      <p:sp>
        <p:nvSpPr>
          <p:cNvPr id="18" name="Service Phân tích"/>
          <p:cNvSpPr/>
          <p:nvPr/>
        </p:nvSpPr>
        <p:spPr>
          <a:xfrm>
            <a:off x="7315017" y="3977640"/>
            <a:ext cx="2072579" cy="731520"/>
          </a:xfrm>
          <a:prstGeom prst="roundRect">
            <a:avLst>
              <a:gd name="adj" fmla="val 12000"/>
            </a:avLst>
          </a:prstGeom>
          <a:solidFill>
            <a:srgbClr val="FDF1DC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Phân tích</a:t>
            </a:r>
          </a:p>
          <a:p>
            <a:pPr algn="ctr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TimescaleDB + Redis</a:t>
            </a:r>
          </a:p>
        </p:txBody>
      </p:sp>
      <p:sp>
        <p:nvSpPr>
          <p:cNvPr id="19" name="Service ML (Python)"/>
          <p:cNvSpPr/>
          <p:nvPr/>
        </p:nvSpPr>
        <p:spPr>
          <a:xfrm>
            <a:off x="9570476" y="3977640"/>
            <a:ext cx="2072579" cy="731520"/>
          </a:xfrm>
          <a:prstGeom prst="roundRect">
            <a:avLst>
              <a:gd name="adj" fmla="val 12000"/>
            </a:avLst>
          </a:prstGeom>
          <a:solidFill>
            <a:srgbClr val="FDF1DC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ML (Python)</a:t>
            </a:r>
          </a:p>
          <a:p>
            <a:pPr algn="ctr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PostgreSQL</a:t>
            </a:r>
          </a:p>
        </p:txBody>
      </p:sp>
      <p:cxnSp>
        <p:nvCxnSpPr>
          <p:cNvPr id="20" name="Mũi tên"/>
          <p:cNvCxnSpPr/>
          <p:nvPr/>
        </p:nvCxnSpPr>
        <p:spPr>
          <a:xfrm>
            <a:off x="6095847" y="2825496"/>
            <a:ext cx="0" cy="256032"/>
          </a:xfrm>
          <a:prstGeom prst="line">
            <a:avLst/>
          </a:prstGeom>
          <a:ln w="22225">
            <a:solidFill>
              <a:srgbClr val="5F6F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Kafka"/>
          <p:cNvSpPr/>
          <p:nvPr/>
        </p:nvSpPr>
        <p:spPr>
          <a:xfrm>
            <a:off x="548640" y="4937760"/>
            <a:ext cx="11094415" cy="566928"/>
          </a:xfrm>
          <a:prstGeom prst="roundRect">
            <a:avLst>
              <a:gd name="adj" fmla="val 20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FFFFFF"/>
                </a:solidFill>
                <a:latin typeface="Arial"/>
              </a:rPr>
              <a:t>Kafka (KRaft, 1 broker)  </a:t>
            </a:r>
            <a:r>
              <a:rPr sz="1400" b="0" i="0" lang="vi-VN">
                <a:solidFill>
                  <a:srgbClr val="FFFFFF"/>
                </a:solidFill>
                <a:latin typeface="Arial"/>
              </a:rPr>
              <a:t>Outbox → topic theo nghiệp vụ → Phân tích, Thông báo, ML tiêu thụ</a:t>
            </a:r>
          </a:p>
        </p:txBody>
      </p:sp>
      <p:cxnSp>
        <p:nvCxnSpPr>
          <p:cNvPr id="22" name="Mũi tên"/>
          <p:cNvCxnSpPr/>
          <p:nvPr/>
        </p:nvCxnSpPr>
        <p:spPr>
          <a:xfrm>
            <a:off x="1920240" y="4727448"/>
            <a:ext cx="0" cy="182880"/>
          </a:xfrm>
          <a:prstGeom prst="line">
            <a:avLst/>
          </a:prstGeom>
          <a:ln w="22225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ũi tên"/>
          <p:cNvCxnSpPr/>
          <p:nvPr/>
        </p:nvCxnSpPr>
        <p:spPr>
          <a:xfrm>
            <a:off x="10271455" y="4727448"/>
            <a:ext cx="0" cy="182880"/>
          </a:xfrm>
          <a:prstGeom prst="line">
            <a:avLst/>
          </a:prstGeom>
          <a:ln w="22225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59612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Stack mặc định: 27 service — 26 container chạy thường trực và minio-init chạy 1 lần. Ô vàng: khối phân tích.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Nguyên tắc kiến trúc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4</a:t>
            </a:fld>
          </a:p>
        </p:txBody>
      </p:sp>
      <p:sp>
        <p:nvSpPr>
          <p:cNvPr id="5" name="Thẻ Mỗi service 1 cơ sở dữ liệu"/>
          <p:cNvSpPr/>
          <p:nvPr/>
        </p:nvSpPr>
        <p:spPr>
          <a:xfrm>
            <a:off x="548640" y="13716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72768"/>
            <a:ext cx="2518562" cy="60350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Mỗi service 1 cơ sở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67712"/>
            <a:ext cx="3112922" cy="10515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Không service nào truy vấn thẳng cơ sở dữ liệu của service khác</a:t>
            </a:r>
          </a:p>
        </p:txBody>
      </p:sp>
      <p:sp>
        <p:nvSpPr>
          <p:cNvPr id="9" name="Thẻ Gateway là điểm vào duy nhất"/>
          <p:cNvSpPr/>
          <p:nvPr/>
        </p:nvSpPr>
        <p:spPr>
          <a:xfrm>
            <a:off x="4338218" y="13716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uy hiệu 2"/>
          <p:cNvSpPr/>
          <p:nvPr/>
        </p:nvSpPr>
        <p:spPr>
          <a:xfrm>
            <a:off x="4539386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3746" y="1572768"/>
            <a:ext cx="2518562" cy="60350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Gateway là điểm vào duy nhất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2267712"/>
            <a:ext cx="3112922" cy="10515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Client chỉ gọi qua API Gateway; service không mở trực tiếp ra ngoài</a:t>
            </a:r>
          </a:p>
        </p:txBody>
      </p:sp>
      <p:sp>
        <p:nvSpPr>
          <p:cNvPr id="13" name="Thẻ REST cho yêu cầu đồng bộ"/>
          <p:cNvSpPr/>
          <p:nvPr/>
        </p:nvSpPr>
        <p:spPr>
          <a:xfrm>
            <a:off x="8127796" y="13716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y hiệu 3"/>
          <p:cNvSpPr/>
          <p:nvPr/>
        </p:nvSpPr>
        <p:spPr>
          <a:xfrm>
            <a:off x="8328964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3324" y="1572768"/>
            <a:ext cx="2518562" cy="60350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REST cho yêu cầu đồng bộ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964" y="2267712"/>
            <a:ext cx="3112922" cy="10515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Gateway → service: yêu cầu và phản hồi ngay</a:t>
            </a:r>
          </a:p>
        </p:txBody>
      </p:sp>
      <p:sp>
        <p:nvSpPr>
          <p:cNvPr id="17" name="Thẻ Kafka cho thay đổi bất đồng bộ"/>
          <p:cNvSpPr/>
          <p:nvPr/>
        </p:nvSpPr>
        <p:spPr>
          <a:xfrm>
            <a:off x="548640" y="3749039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4"/>
          <p:cNvSpPr/>
          <p:nvPr/>
        </p:nvSpPr>
        <p:spPr>
          <a:xfrm>
            <a:off x="749808" y="3950207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50207"/>
            <a:ext cx="2518562" cy="60350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Kafka cho thay đổi bất đồng bộ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45151"/>
            <a:ext cx="3112922" cy="10515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Outbox ghi cùng transaction, worker đẩy sự kiện lên Kafka</a:t>
            </a:r>
          </a:p>
        </p:txBody>
      </p:sp>
      <p:sp>
        <p:nvSpPr>
          <p:cNvPr id="21" name="Thẻ Đa người thuê"/>
          <p:cNvSpPr/>
          <p:nvPr/>
        </p:nvSpPr>
        <p:spPr>
          <a:xfrm>
            <a:off x="4338218" y="3749039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y hiệu 5"/>
          <p:cNvSpPr/>
          <p:nvPr/>
        </p:nvSpPr>
        <p:spPr>
          <a:xfrm>
            <a:off x="4539386" y="3950207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3746" y="3950207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Đa người thuê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9386" y="4498847"/>
            <a:ext cx="3112922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Mọi bảng nghiệp vụ có organization_id, mọi truy vấn lọc theo tổ chức</a:t>
            </a:r>
          </a:p>
        </p:txBody>
      </p:sp>
      <p:sp>
        <p:nvSpPr>
          <p:cNvPr id="25" name="Thẻ Consumer idempotent"/>
          <p:cNvSpPr/>
          <p:nvPr/>
        </p:nvSpPr>
        <p:spPr>
          <a:xfrm>
            <a:off x="8127796" y="3749039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uy hiệu 6"/>
          <p:cNvSpPr/>
          <p:nvPr/>
        </p:nvSpPr>
        <p:spPr>
          <a:xfrm>
            <a:off x="8328964" y="3950207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3324" y="3950207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Consumer idempotent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8964" y="4498847"/>
            <a:ext cx="3112922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Xử lý trùng sự kiện an toàn nhờ khoá eventId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Bài toán: Docker Desktop tự tắt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5</a:t>
            </a:fld>
          </a:p>
        </p:txBody>
      </p:sp>
      <p:sp>
        <p:nvSpPr>
          <p:cNvPr id="5" name="Chỉ số RAM máy phát triển"/>
          <p:cNvSpPr/>
          <p:nvPr/>
        </p:nvSpPr>
        <p:spPr>
          <a:xfrm>
            <a:off x="548640" y="13716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800" b="1" i="0" lang="vi-VN">
                <a:solidFill>
                  <a:srgbClr val="1B6F6A"/>
                </a:solidFill>
                <a:latin typeface="Arial"/>
              </a:rPr>
              <a:t>15,4 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3149498" cy="73151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RAM máy phát triển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Chạy song song Chrome, VS Code và ứng dụng khác</a:t>
            </a:r>
          </a:p>
        </p:txBody>
      </p:sp>
      <p:sp>
        <p:nvSpPr>
          <p:cNvPr id="8" name="Chỉ số Máy ảo WSL2 không giới hạ"/>
          <p:cNvSpPr/>
          <p:nvPr/>
        </p:nvSpPr>
        <p:spPr>
          <a:xfrm>
            <a:off x="4338218" y="13716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800" b="1" i="0" lang="vi-VN">
                <a:solidFill>
                  <a:srgbClr val="C8553D"/>
                </a:solidFill>
                <a:latin typeface="Arial"/>
              </a:rPr>
              <a:t>6,4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267712"/>
            <a:ext cx="3149498" cy="73151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Máy ảo WSL2 không giới hạn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Đo thực tế, chứa toàn bộ container</a:t>
            </a:r>
          </a:p>
        </p:txBody>
      </p:sp>
      <p:sp>
        <p:nvSpPr>
          <p:cNvPr id="11" name="Chỉ số Bộ đệm MongoDB mặc định"/>
          <p:cNvSpPr/>
          <p:nvPr/>
        </p:nvSpPr>
        <p:spPr>
          <a:xfrm>
            <a:off x="8127796" y="13716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0676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800" b="1" i="0" lang="vi-VN">
                <a:solidFill>
                  <a:srgbClr val="C8553D"/>
                </a:solidFill>
                <a:latin typeface="Arial"/>
              </a:rPr>
              <a:t>~3,3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0676" y="2267712"/>
            <a:ext cx="3149498" cy="73151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Bộ đệm MongoDB mặc định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WiredTiger tự chiếm theo RAM máy ảo</a:t>
            </a:r>
          </a:p>
        </p:txBody>
      </p:sp>
      <p:sp>
        <p:nvSpPr>
          <p:cNvPr id="14" name="Thẻ Rà soát tính năng"/>
          <p:cNvSpPr/>
          <p:nvPr/>
        </p:nvSpPr>
        <p:spPr>
          <a:xfrm>
            <a:off x="548640" y="3383280"/>
            <a:ext cx="4206240" cy="274320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584448"/>
            <a:ext cx="3803903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Rà soát tính năng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87368"/>
            <a:ext cx="3803903" cy="183794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2 agent đối chiếu độc lập theo vai trò người dùng và khách hàng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Kết luận: không xoá tính năng nghiệp vụ nào, chỉ tinh chỉnh hạ tầng</a:t>
            </a:r>
          </a:p>
        </p:txBody>
      </p:sp>
      <p:graphicFrame>
        <p:nvGraphicFramePr>
          <p:cNvPr id="17" name="Bảng"/>
          <p:cNvGraphicFramePr>
            <a:graphicFrameLocks noGrp="1"/>
          </p:cNvGraphicFramePr>
          <p:nvPr/>
        </p:nvGraphicFramePr>
        <p:xfrm>
          <a:off x="5029200" y="3383280"/>
          <a:ext cx="6613855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413455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Phương án đã cân nhắc và loại bỏ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Lý do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Gộp các PostgreSQL thành 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Phá nguyên tắc mỗi service 1 cơ sở dữ liệu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Giới hạn heap Node.js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Rủi ro hết bộ nhớ khi trích văn bản PDF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docker image prune -a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Xoá cả image của dự án khác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Đưa ml-service vào profile tuỳ chọn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Gateway phụ thuộc service này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Bỏ mailhog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Chỉ ~3MB, cần cho luồng Quên mật khẩu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Các thay đổi đã áp dụng (24/10/2026)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6</a:t>
            </a:fld>
          </a:p>
        </p:txBody>
      </p:sp>
      <p:graphicFrame>
        <p:nvGraphicFramePr>
          <p:cNvPr id="5" name="Bảng"/>
          <p:cNvGraphicFramePr>
            <a:graphicFrameLocks noGrp="1"/>
          </p:cNvGraphicFramePr>
          <p:nvPr/>
        </p:nvGraphicFramePr>
        <p:xfrm>
          <a:off x="548640" y="1371600"/>
          <a:ext cx="11094415" cy="373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876495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Thành phần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Thay đổi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Nơi cấu hình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Máy ảo WSL2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memory=5GB, swap=4GB, autoMemoryReclaim=gradual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.wslconfig (ngoài repo)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MongoDB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--wiredTigerCacheSizeGB 0.25, mem_limit 640m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infra/docker-compose.yml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Kafka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Heap -Xms256m -Xmx384m, mem_limit 768m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infra/docker-compose.yml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ml-service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mem_limit 1g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infra/docker-compose.yml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Prometheus, Alertmanager, kafka-exporter, Grafana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Chuyển sang profile observability, không chạy mặc định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infra/docker-compose.yml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Cổng gateway 3000, web 80, minio 9010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Chỉ lắng nghe IPv4 (0.0.0.0), vẫn mở LAN cho app di động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infra/docker-compose.yml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Healthcheck Kafka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Kiểm tra mỗi 5 giây khi khởi động, 60 giây khi đã healthy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infra/docker-compose.yml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Kết quả giảm RAM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7</a:t>
            </a:fld>
          </a:p>
        </p:txBody>
      </p:sp>
      <p:graphicFrame>
        <p:nvGraphicFramePr>
          <p:cNvPr id="5" name="Biểu đồ RAM"/>
          <p:cNvGraphicFramePr>
            <a:graphicFrameLocks noGrp="1"/>
          </p:cNvGraphicFramePr>
          <p:nvPr/>
        </p:nvGraphicFramePr>
        <p:xfrm>
          <a:off x="548640" y="1371600"/>
          <a:ext cx="667512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Chỉ số Container chạy thường trự"/>
          <p:cNvSpPr/>
          <p:nvPr/>
        </p:nvSpPr>
        <p:spPr>
          <a:xfrm>
            <a:off x="7498079" y="1371600"/>
            <a:ext cx="4144975" cy="14173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1481328"/>
            <a:ext cx="3779215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 lang="vi-VN">
                <a:solidFill>
                  <a:srgbClr val="1B6F6A"/>
                </a:solidFill>
                <a:latin typeface="Arial"/>
              </a:rPr>
              <a:t>26/26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59" y="2267712"/>
            <a:ext cx="3779215" cy="41147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Container chạy thường trực healthy</a:t>
            </a:r>
          </a:p>
        </p:txBody>
      </p:sp>
      <p:sp>
        <p:nvSpPr>
          <p:cNvPr id="9" name="Chỉ số Container giám sát khi bậ"/>
          <p:cNvSpPr/>
          <p:nvPr/>
        </p:nvSpPr>
        <p:spPr>
          <a:xfrm>
            <a:off x="7498079" y="2971800"/>
            <a:ext cx="4144975" cy="14173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3081528"/>
            <a:ext cx="3779215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 lang="vi-VN">
                <a:solidFill>
                  <a:srgbClr val="1B6F6A"/>
                </a:solidFill>
                <a:latin typeface="Arial"/>
              </a:rPr>
              <a:t>+4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3867912"/>
            <a:ext cx="3779215" cy="41147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Container giám sát khi bật observability</a:t>
            </a:r>
          </a:p>
        </p:txBody>
      </p:sp>
      <p:sp>
        <p:nvSpPr>
          <p:cNvPr id="12" name="Chỉ số Trần cứng của máy ảo, swa"/>
          <p:cNvSpPr/>
          <p:nvPr/>
        </p:nvSpPr>
        <p:spPr>
          <a:xfrm>
            <a:off x="7498079" y="4572000"/>
            <a:ext cx="4144975" cy="14173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4681728"/>
            <a:ext cx="3779215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 lang="vi-VN">
                <a:solidFill>
                  <a:srgbClr val="1B6F6A"/>
                </a:solidFill>
                <a:latin typeface="Arial"/>
              </a:rPr>
              <a:t>5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5468112"/>
            <a:ext cx="3779215" cy="41147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Trần cứng của máy ảo, swap 4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 lang="vi-VN">
                <a:solidFill>
                  <a:srgbClr val="5F6F73"/>
                </a:solidFill>
                <a:latin typeface="Arial"/>
              </a:rPr>
              <a:t>Số đo thực tế trên máy phát triển 15,4GB 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CDC bằng Debezium: luồng dữ liệu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8</a:t>
            </a:fld>
          </a:p>
        </p:txBody>
      </p:sp>
      <p:sp>
        <p:nvSpPr>
          <p:cNvPr id="5" name="Bước project-task-service"/>
          <p:cNvSpPr/>
          <p:nvPr/>
        </p:nvSpPr>
        <p:spPr>
          <a:xfrm>
            <a:off x="548640" y="1463040"/>
            <a:ext cx="1889699" cy="1463040"/>
          </a:xfrm>
          <a:prstGeom prst="roundRect">
            <a:avLst>
              <a:gd name="adj" fmla="val 10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project-task-service</a:t>
            </a:r>
          </a:p>
          <a:p>
            <a:pPr algn="ctr">
              <a:spcAft>
                <a:spcPts val="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Ghi outbox_events cùng transaction</a:t>
            </a:r>
          </a:p>
        </p:txBody>
      </p:sp>
      <p:cxnSp>
        <p:nvCxnSpPr>
          <p:cNvPr id="6" name="Mũi tên"/>
          <p:cNvCxnSpPr/>
          <p:nvPr/>
        </p:nvCxnSpPr>
        <p:spPr>
          <a:xfrm>
            <a:off x="2493203" y="2194560"/>
            <a:ext cx="301752" cy="0"/>
          </a:xfrm>
          <a:prstGeom prst="line">
            <a:avLst/>
          </a:prstGeom>
          <a:ln w="25400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ước postgres-pt"/>
          <p:cNvSpPr/>
          <p:nvPr/>
        </p:nvSpPr>
        <p:spPr>
          <a:xfrm>
            <a:off x="2849819" y="1463040"/>
            <a:ext cx="1889699" cy="1463040"/>
          </a:xfrm>
          <a:prstGeom prst="roundRect">
            <a:avLst>
              <a:gd name="adj" fmla="val 10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postgres-pt</a:t>
            </a:r>
          </a:p>
          <a:p>
            <a:pPr algn="ctr">
              <a:spcAft>
                <a:spcPts val="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wal_level=logical, slot pt_outbox_slot</a:t>
            </a:r>
          </a:p>
        </p:txBody>
      </p:sp>
      <p:cxnSp>
        <p:nvCxnSpPr>
          <p:cNvPr id="8" name="Mũi tên"/>
          <p:cNvCxnSpPr/>
          <p:nvPr/>
        </p:nvCxnSpPr>
        <p:spPr>
          <a:xfrm>
            <a:off x="4794382" y="2194560"/>
            <a:ext cx="301752" cy="0"/>
          </a:xfrm>
          <a:prstGeom prst="line">
            <a:avLst/>
          </a:prstGeom>
          <a:ln w="25400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ước Debezium 2.7.3"/>
          <p:cNvSpPr/>
          <p:nvPr/>
        </p:nvSpPr>
        <p:spPr>
          <a:xfrm>
            <a:off x="5150998" y="1463040"/>
            <a:ext cx="1889699" cy="1463040"/>
          </a:xfrm>
          <a:prstGeom prst="roundRect">
            <a:avLst>
              <a:gd name="adj" fmla="val 10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1" i="0" lang="vi-VN">
                <a:solidFill>
                  <a:srgbClr val="FFFFFF"/>
                </a:solidFill>
                <a:latin typeface="Arial"/>
              </a:rPr>
              <a:t>Debezium 2.7.3</a:t>
            </a:r>
          </a:p>
          <a:p>
            <a:pPr algn="ctr">
              <a:spcAft>
                <a:spcPts val="0"/>
              </a:spcAft>
            </a:pPr>
            <a:r>
              <a:rPr sz="1200" b="0" i="0" lang="vi-VN">
                <a:solidFill>
                  <a:srgbClr val="DCEBE8"/>
                </a:solidFill>
                <a:latin typeface="Arial"/>
              </a:rPr>
              <a:t>Outbox Event Router</a:t>
            </a:r>
          </a:p>
        </p:txBody>
      </p:sp>
      <p:cxnSp>
        <p:nvCxnSpPr>
          <p:cNvPr id="10" name="Mũi tên"/>
          <p:cNvCxnSpPr/>
          <p:nvPr/>
        </p:nvCxnSpPr>
        <p:spPr>
          <a:xfrm>
            <a:off x="7095561" y="2194560"/>
            <a:ext cx="301752" cy="0"/>
          </a:xfrm>
          <a:prstGeom prst="line">
            <a:avLst/>
          </a:prstGeom>
          <a:ln w="25400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ước Kafka"/>
          <p:cNvSpPr/>
          <p:nvPr/>
        </p:nvSpPr>
        <p:spPr>
          <a:xfrm>
            <a:off x="7452177" y="1463040"/>
            <a:ext cx="1889699" cy="1463040"/>
          </a:xfrm>
          <a:prstGeom prst="roundRect">
            <a:avLst>
              <a:gd name="adj" fmla="val 10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Kafka</a:t>
            </a:r>
          </a:p>
          <a:p>
            <a:pPr algn="ctr">
              <a:spcAft>
                <a:spcPts val="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topic project-task.events</a:t>
            </a:r>
          </a:p>
        </p:txBody>
      </p:sp>
      <p:cxnSp>
        <p:nvCxnSpPr>
          <p:cNvPr id="12" name="Mũi tên"/>
          <p:cNvCxnSpPr/>
          <p:nvPr/>
        </p:nvCxnSpPr>
        <p:spPr>
          <a:xfrm>
            <a:off x="9396740" y="2194560"/>
            <a:ext cx="301752" cy="0"/>
          </a:xfrm>
          <a:prstGeom prst="line">
            <a:avLst/>
          </a:prstGeom>
          <a:ln w="25400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ước Consumer"/>
          <p:cNvSpPr/>
          <p:nvPr/>
        </p:nvSpPr>
        <p:spPr>
          <a:xfrm>
            <a:off x="9753356" y="1463040"/>
            <a:ext cx="1889699" cy="1463040"/>
          </a:xfrm>
          <a:prstGeom prst="roundRect">
            <a:avLst>
              <a:gd name="adj" fmla="val 10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Consumer</a:t>
            </a:r>
          </a:p>
          <a:p>
            <a:pPr algn="ctr">
              <a:spcAft>
                <a:spcPts val="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analytics, notification, ml-service (không sửa)</a:t>
            </a:r>
          </a:p>
        </p:txBody>
      </p:sp>
      <p:sp>
        <p:nvSpPr>
          <p:cNvPr id="14" name="Thẻ Mặc định: Outbox polling"/>
          <p:cNvSpPr/>
          <p:nvPr/>
        </p:nvSpPr>
        <p:spPr>
          <a:xfrm>
            <a:off x="548640" y="3291840"/>
            <a:ext cx="5410047" cy="27889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493008"/>
            <a:ext cx="5007711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Mặc định: Outbox polling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95928"/>
            <a:ext cx="5007711" cy="18836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Worker trong service quét bảng outbox mỗi 2–3 giây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Đơn giản, không cần hạ tầng thêm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Độ trễ vài giây, có thể phát trùng sự kiện</a:t>
            </a:r>
          </a:p>
        </p:txBody>
      </p:sp>
      <p:sp>
        <p:nvSpPr>
          <p:cNvPr id="17" name="Thẻ Profile cdc: đọc WAL"/>
          <p:cNvSpPr/>
          <p:nvPr/>
        </p:nvSpPr>
        <p:spPr>
          <a:xfrm>
            <a:off x="6233007" y="3291840"/>
            <a:ext cx="5410047" cy="278892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4175" y="3493008"/>
            <a:ext cx="5007711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Profile cdc: đọc 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4175" y="3995928"/>
            <a:ext cx="5007711" cy="18836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Bật, tắt bằng scripts/cdc-on.ps1 và cdc-off.ps1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Message giống hệt polling, consumer không phải sửa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Debezium giới hạn heap 384MB, mem_limit 768MB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Độ trễ tới Analytics: polling và CDC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9</a:t>
            </a:fld>
          </a:p>
        </p:txBody>
      </p:sp>
      <p:graphicFrame>
        <p:nvGraphicFramePr>
          <p:cNvPr id="5" name="Biểu đồ độ trễ"/>
          <p:cNvGraphicFramePr>
            <a:graphicFrameLocks noGrp="1"/>
          </p:cNvGraphicFramePr>
          <p:nvPr/>
        </p:nvGraphicFramePr>
        <p:xfrm>
          <a:off x="548640" y="1371600"/>
          <a:ext cx="667512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Chỉ số Nhanh hơn polling"/>
          <p:cNvSpPr/>
          <p:nvPr/>
        </p:nvSpPr>
        <p:spPr>
          <a:xfrm>
            <a:off x="7498079" y="1371600"/>
            <a:ext cx="4144975" cy="14173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1481328"/>
            <a:ext cx="3779215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 lang="vi-VN">
                <a:solidFill>
                  <a:srgbClr val="1B6F6A"/>
                </a:solidFill>
                <a:latin typeface="Arial"/>
              </a:rPr>
              <a:t>3–5 lần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59" y="2267712"/>
            <a:ext cx="3779215" cy="41147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Nhanh hơn polling</a:t>
            </a:r>
          </a:p>
        </p:txBody>
      </p:sp>
      <p:sp>
        <p:nvSpPr>
          <p:cNvPr id="9" name="Chỉ số MiB RAM debezium (giới hạ"/>
          <p:cNvSpPr/>
          <p:nvPr/>
        </p:nvSpPr>
        <p:spPr>
          <a:xfrm>
            <a:off x="7498079" y="2971800"/>
            <a:ext cx="4144975" cy="14173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3081528"/>
            <a:ext cx="3779215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 lang="vi-VN">
                <a:solidFill>
                  <a:srgbClr val="1B6F6A"/>
                </a:solidFill>
                <a:latin typeface="Arial"/>
              </a:rPr>
              <a:t>410–577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3867912"/>
            <a:ext cx="3779215" cy="41147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MiB RAM debezium (giới hạn 768)</a:t>
            </a:r>
          </a:p>
        </p:txBody>
      </p:sp>
      <p:sp>
        <p:nvSpPr>
          <p:cNvPr id="12" name="Chỉ số Dung lượng image debezium"/>
          <p:cNvSpPr/>
          <p:nvPr/>
        </p:nvSpPr>
        <p:spPr>
          <a:xfrm>
            <a:off x="7498079" y="4572000"/>
            <a:ext cx="4144975" cy="14173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4681728"/>
            <a:ext cx="3779215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 lang="vi-VN">
                <a:solidFill>
                  <a:srgbClr val="1B6F6A"/>
                </a:solidFill>
                <a:latin typeface="Arial"/>
              </a:rPr>
              <a:t>2,2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5468112"/>
            <a:ext cx="3779215" cy="41147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Dung lượng image debezium/connect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 lang="vi-VN">
                <a:solidFill>
                  <a:srgbClr val="5F6F73"/>
                </a:solidFill>
                <a:latin typeface="Arial"/>
              </a:rPr>
              <a:t>Số đo thực tế ngày 25/10/2026, 6 mẫu cho CDC.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Bật, tắt CDC dưới tải: không mất sự kiện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10</a:t>
            </a:fld>
          </a:p>
        </p:txBody>
      </p:sp>
      <p:sp>
        <p:nvSpPr>
          <p:cNvPr id="5" name="Chỉ số Sự kiện bị mất"/>
          <p:cNvSpPr/>
          <p:nvPr/>
        </p:nvSpPr>
        <p:spPr>
          <a:xfrm>
            <a:off x="548640" y="13716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 lang="vi-VN">
                <a:solidFill>
                  <a:srgbClr val="1B6F6A"/>
                </a:solidFill>
                <a:latin typeface="Arial"/>
              </a:rPr>
              <a:t>0 / 1.862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3149498" cy="73151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Sự kiện bị mất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Kiểm thử sống dưới tải; khởi động lại Postgres, Kafka đều tự phục hồi</a:t>
            </a:r>
          </a:p>
        </p:txBody>
      </p:sp>
      <p:sp>
        <p:nvSpPr>
          <p:cNvPr id="8" name="Chỉ số Sự kiện đi trọn luồng"/>
          <p:cNvSpPr/>
          <p:nvPr/>
        </p:nvSpPr>
        <p:spPr>
          <a:xfrm>
            <a:off x="4338218" y="13716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 lang="vi-VN">
                <a:solidFill>
                  <a:srgbClr val="1B6F6A"/>
                </a:solidFill>
                <a:latin typeface="Arial"/>
              </a:rPr>
              <a:t>416 / 416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267712"/>
            <a:ext cx="3149498" cy="73151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Sự kiện đi trọn luồng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Người xác minh độc lập: ON, OFF và 3 vòng phục hồi</a:t>
            </a:r>
          </a:p>
        </p:txBody>
      </p:sp>
      <p:sp>
        <p:nvSpPr>
          <p:cNvPr id="11" name="Chỉ số ON/OFF khi kiểm thử merge"/>
          <p:cNvSpPr/>
          <p:nvPr/>
        </p:nvSpPr>
        <p:spPr>
          <a:xfrm>
            <a:off x="8127796" y="13716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0676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 lang="vi-VN">
                <a:solidFill>
                  <a:srgbClr val="1B6F6A"/>
                </a:solidFill>
                <a:latin typeface="Arial"/>
              </a:rPr>
              <a:t>2 vòng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0676" y="2267712"/>
            <a:ext cx="3149498" cy="73151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ON/OFF khi kiểm thử merge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Tải ~2 sự kiện/giây, liên tục đổi trạng thái công việc</a:t>
            </a:r>
          </a:p>
        </p:txBody>
      </p:sp>
      <p:sp>
        <p:nvSpPr>
          <p:cNvPr id="14" name="Thẻ Luôn có nguồn publish"/>
          <p:cNvSpPr/>
          <p:nvPr/>
        </p:nvSpPr>
        <p:spPr>
          <a:xfrm>
            <a:off x="548640" y="338328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uy hiệu 1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58444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Luôn có nguồn publish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133087"/>
            <a:ext cx="3112922" cy="174650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Polling chỉ tắt sau khi CDC đã chạy và đã gửi hết dòng cũ</a:t>
            </a:r>
          </a:p>
        </p:txBody>
      </p:sp>
      <p:sp>
        <p:nvSpPr>
          <p:cNvPr id="18" name="Thẻ Chỉ đánh dấu khi đã tới Kafka"/>
          <p:cNvSpPr/>
          <p:nvPr/>
        </p:nvSpPr>
        <p:spPr>
          <a:xfrm>
            <a:off x="4338218" y="338328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uy hiệu 2"/>
          <p:cNvSpPr/>
          <p:nvPr/>
        </p:nvSpPr>
        <p:spPr>
          <a:xfrm>
            <a:off x="4539386" y="358444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3746" y="3584448"/>
            <a:ext cx="2518562" cy="60350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Chỉ đánh dấu khi đã tới Kafka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9386" y="4279392"/>
            <a:ext cx="3112922" cy="16002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cdc-off.ps1 chờ slot xác nhận vị trí WAL rồi mới đánh dấu published</a:t>
            </a:r>
          </a:p>
        </p:txBody>
      </p:sp>
      <p:sp>
        <p:nvSpPr>
          <p:cNvPr id="22" name="Thẻ Trùng lặp vô hại"/>
          <p:cNvSpPr/>
          <p:nvPr/>
        </p:nvSpPr>
        <p:spPr>
          <a:xfrm>
            <a:off x="8127796" y="338328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uy hiệu 3"/>
          <p:cNvSpPr/>
          <p:nvPr/>
        </p:nvSpPr>
        <p:spPr>
          <a:xfrm>
            <a:off x="8328964" y="358444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3324" y="358444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Trùng lặp vô hại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8964" y="4133087"/>
            <a:ext cx="3112922" cy="174650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Consumer idempotent: analytics theo eventId, notification theo eventId + userId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Kafka đã lưu dữ liệu bền vững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11</a:t>
            </a:fld>
          </a:p>
        </p:txBody>
      </p:sp>
      <p:sp>
        <p:nvSpPr>
          <p:cNvPr id="5" name="Thẻ Trước khi sửa"/>
          <p:cNvSpPr/>
          <p:nvPr/>
        </p:nvSpPr>
        <p:spPr>
          <a:xfrm>
            <a:off x="548640" y="1371600"/>
            <a:ext cx="5090007" cy="3108960"/>
          </a:xfrm>
          <a:prstGeom prst="roundRect">
            <a:avLst>
              <a:gd name="adj" fmla="val 6000"/>
            </a:avLst>
          </a:prstGeom>
          <a:solidFill>
            <a:srgbClr val="F8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4687671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Trước khi sửa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75688"/>
            <a:ext cx="4687671" cy="220370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KAFKA_LOG_DIRS chưa đặt, Kafka ghi vào /tmp/kafka-logs nằm ngoài volume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Mỗi lần tạo lại container: mất toàn bộ topic, offset và metadata KRaft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notification-service có thể bỏ sót sự kiện sinh ra lúc chưa kết nối lại</a:t>
            </a:r>
          </a:p>
        </p:txBody>
      </p:sp>
      <p:cxnSp>
        <p:nvCxnSpPr>
          <p:cNvPr id="8" name="Mũi tên"/>
          <p:cNvCxnSpPr/>
          <p:nvPr/>
        </p:nvCxnSpPr>
        <p:spPr>
          <a:xfrm>
            <a:off x="5775807" y="2926080"/>
            <a:ext cx="640080" cy="0"/>
          </a:xfrm>
          <a:prstGeom prst="line">
            <a:avLst/>
          </a:prstGeom>
          <a:ln w="38100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hẻ Sau khi sửa"/>
          <p:cNvSpPr/>
          <p:nvPr/>
        </p:nvSpPr>
        <p:spPr>
          <a:xfrm>
            <a:off x="6553047" y="1371600"/>
            <a:ext cx="5090007" cy="3108960"/>
          </a:xfrm>
          <a:prstGeom prst="roundRect">
            <a:avLst>
              <a:gd name="adj" fmla="val 6000"/>
            </a:avLst>
          </a:prstGeom>
          <a:solidFill>
            <a:srgbClr val="D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4215" y="1572768"/>
            <a:ext cx="4687671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Sau khi sửa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4215" y="2075688"/>
            <a:ext cx="4687671" cy="220370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KAFKA_LOG_DIRS=/var/lib/kafka/data, nằm trong volume kafka-data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Sau docker compose up -d --force-recreate kafka: 12 topic và offset còn nguyên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Các topic debezium_* giữ đúng cấu hình, Debezium khởi động ổn định</a:t>
            </a:r>
          </a:p>
        </p:txBody>
      </p:sp>
      <p:sp>
        <p:nvSpPr>
          <p:cNvPr id="12" name="Chỉ số Topic còn nguyên sau khi "/>
          <p:cNvSpPr/>
          <p:nvPr/>
        </p:nvSpPr>
        <p:spPr>
          <a:xfrm>
            <a:off x="548640" y="4663440"/>
            <a:ext cx="3474720" cy="148132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7316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 lang="vi-VN">
                <a:solidFill>
                  <a:srgbClr val="1B6F6A"/>
                </a:solidFill>
                <a:latin typeface="Arial"/>
              </a:rPr>
              <a:t>12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59552"/>
            <a:ext cx="3108960" cy="475488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Topic còn nguyên sau khi tạo lại</a:t>
            </a:r>
          </a:p>
        </p:txBody>
      </p:sp>
      <p:sp>
        <p:nvSpPr>
          <p:cNvPr id="15" name="Thẻ Healthcheck Kafka nhẹ hơn"/>
          <p:cNvSpPr/>
          <p:nvPr/>
        </p:nvSpPr>
        <p:spPr>
          <a:xfrm>
            <a:off x="4297679" y="4663440"/>
            <a:ext cx="7345375" cy="1481328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7" y="4864607"/>
            <a:ext cx="6943039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Healthcheck Kafka nhẹ hơn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7" y="5367527"/>
            <a:ext cx="6943039" cy="576072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Mỗi lần kiểm tra khởi động 1 JVM (CPU 140–220%); nay 5 giây/lần khi khởi động, 60 giây/lần khi healthy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188720"/>
            <a:ext cx="10728655" cy="10972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800" b="1" i="0" lang="vi-VN">
                <a:solidFill>
                  <a:srgbClr val="FFFFFF"/>
                </a:solidFill>
                <a:latin typeface="Arial"/>
              </a:rPr>
              <a:t>Bài học và hướng tiếp theo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B9CFCB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B9CFCB"/>
                </a:solidFill>
                <a:latin typeface="Arial"/>
              </a:rPr>
              <a:t>12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7498079" cy="31089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Đo trước khi tối ưu: thủ phạm là máy ảo không giới hạn RAM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Tối ưu hạ tầng, giữ nguyên mọi tính năng nghiệp vụ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Chuyển chế độ CDC trước buổi demo, không chuyển giữa chừng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Tiếp theo: CDC cho 5 service còn lại có outbox, dự phòng cho connector</a:t>
            </a:r>
          </a:p>
        </p:txBody>
      </p:sp>
      <p:sp>
        <p:nvSpPr>
          <p:cNvPr id="6" name="Khối liên hệ"/>
          <p:cNvSpPr/>
          <p:nvPr/>
        </p:nvSpPr>
        <p:spPr>
          <a:xfrm>
            <a:off x="8549640" y="2514600"/>
            <a:ext cx="3090672" cy="2926080"/>
          </a:xfrm>
          <a:prstGeom prst="roundRect">
            <a:avLst>
              <a:gd name="adj" fmla="val 6000"/>
            </a:avLst>
          </a:prstGeom>
          <a:solidFill>
            <a:srgbClr val="1E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697480"/>
            <a:ext cx="2651760" cy="256032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Giới hạn đã biết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CDC mới áp dụng cho project-task-service.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1 connector, 1 task, chưa có dự phòng.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localhost có thể treo ~90 giây sau khi tạo lại container.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o SME">
  <a:themeElements>
    <a:clrScheme name="Office">
      <a:dk1>
        <a:sysClr val="windowText" lastClr="000000"/>
      </a:dk1>
      <a:lt1>
        <a:sysClr val="window" lastClr="FFFFFF"/>
      </a:lt1>
      <a:dk2>
        <a:srgbClr val="12343B"/>
      </a:dk2>
      <a:lt2>
        <a:srgbClr val="E8F1EF"/>
      </a:lt2>
      <a:accent1>
        <a:srgbClr val="1B6F6A"/>
      </a:accent1>
      <a:accent2>
        <a:srgbClr val="F2A541"/>
      </a:accent2>
      <a:accent3>
        <a:srgbClr val="5B8DB8"/>
      </a:accent3>
      <a:accent4>
        <a:srgbClr val="C8553D"/>
      </a:accent4>
      <a:accent5>
        <a:srgbClr val="2E8B57"/>
      </a:accent5>
      <a:accent6>
        <a:srgbClr val="8E7CC3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kiến trúc hạ tầng và kết quả tối ưu tài nguyên</dc:title>
  <dc:subject>Dự án Nâng cấp hạ tầng Docker — số đo thực tế 24–25/10/2026</dc:subject>
  <dc:creator>Công ty Demo SME</dc:creator>
  <cp:keywords>ECAP; Công ty Demo SME; minh hoạ đồ án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vi-VN</dc:language>
</cp:coreProperties>
</file>