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Tỷ lệ hoàn thành (%) — mục tiêu 80%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Tháng 7</c:v>
                </c:pt>
              </c:strCache>
            </c:strRef>
          </c:tx>
          <c:spPr>
            <a:solidFill>
              <a:srgbClr val="9FC9C3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65,2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85,9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78,6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88,9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Kinh doanh</c:v>
                </c:pt>
                <c:pt idx="1">
                  <c:v>Kỹ thuật</c:v>
                </c:pt>
                <c:pt idx="2">
                  <c:v>Marketing</c:v>
                </c:pt>
                <c:pt idx="3">
                  <c:v>Nhân sự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65.2</c:v>
                </c:pt>
                <c:pt idx="1">
                  <c:v>85.9</c:v>
                </c:pt>
                <c:pt idx="2">
                  <c:v>78.6</c:v>
                </c:pt>
                <c:pt idx="3">
                  <c:v>88.9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Tháng 8</c:v>
                </c:pt>
              </c:strCache>
            </c:strRef>
          </c:tx>
          <c:spPr>
            <a:solidFill>
              <a:srgbClr val="2F8F86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67,3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87,1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76,5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85,0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Kinh doanh</c:v>
                </c:pt>
                <c:pt idx="1">
                  <c:v>Kỹ thuật</c:v>
                </c:pt>
                <c:pt idx="2">
                  <c:v>Marketing</c:v>
                </c:pt>
                <c:pt idx="3">
                  <c:v>Nhân sự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67.3</c:v>
                </c:pt>
                <c:pt idx="1">
                  <c:v>87.1</c:v>
                </c:pt>
                <c:pt idx="2">
                  <c:v>76.5</c:v>
                </c:pt>
                <c:pt idx="3">
                  <c:v>85.0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Tháng 9</c:v>
                </c:pt>
              </c:strCache>
            </c:strRef>
          </c:tx>
          <c:spPr>
            <a:solidFill>
              <a:srgbClr val="12343B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73,5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88,9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80,6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90,9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Kinh doanh</c:v>
                </c:pt>
                <c:pt idx="1">
                  <c:v>Kỹ thuật</c:v>
                </c:pt>
                <c:pt idx="2">
                  <c:v>Marketing</c:v>
                </c:pt>
                <c:pt idx="3">
                  <c:v>Nhân sự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73.5</c:v>
                </c:pt>
                <c:pt idx="1">
                  <c:v>88.9</c:v>
                </c:pt>
                <c:pt idx="2">
                  <c:v>80.6</c:v>
                </c:pt>
                <c:pt idx="3">
                  <c:v>90.9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E2A2E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Tỷ lệ chấm công (%) — mục tiêu 95%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Kinh doanh</c:v>
                </c:pt>
              </c:strCache>
            </c:strRef>
          </c:tx>
          <c:spPr>
            <a:ln w="31750">
              <a:solidFill>
                <a:srgbClr val="C8553D"/>
              </a:solidFill>
            </a:ln>
          </c:spPr>
          <c:marker>
            <c:symbol val="circle"/>
            <c:size val="7"/>
            <c:spPr>
              <a:solidFill>
                <a:srgbClr val="C8553D"/>
              </a:solidFill>
              <a:ln>
                <a:solidFill>
                  <a:srgbClr val="C8553D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92.9</c:v>
                </c:pt>
                <c:pt idx="1">
                  <c:v>92.3</c:v>
                </c:pt>
                <c:pt idx="2">
                  <c:v>93.8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Kỹ thuật</c:v>
                </c:pt>
              </c:strCache>
            </c:strRef>
          </c:tx>
          <c:spPr>
            <a:ln w="31750">
              <a:solidFill>
                <a:srgbClr val="1B6F6A"/>
              </a:solidFill>
            </a:ln>
          </c:spPr>
          <c:marker>
            <c:symbol val="circle"/>
            <c:size val="7"/>
            <c:spPr>
              <a:solidFill>
                <a:srgbClr val="1B6F6A"/>
              </a:solidFill>
              <a:ln>
                <a:solidFill>
                  <a:srgbClr val="1B6F6A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97.0</c:v>
                </c:pt>
                <c:pt idx="1">
                  <c:v>96.2</c:v>
                </c:pt>
                <c:pt idx="2">
                  <c:v>97.0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Marketing</c:v>
                </c:pt>
              </c:strCache>
            </c:strRef>
          </c:tx>
          <c:spPr>
            <a:ln w="31750">
              <a:solidFill>
                <a:srgbClr val="F2A541"/>
              </a:solidFill>
            </a:ln>
          </c:spPr>
          <c:marker>
            <c:symbol val="circle"/>
            <c:size val="7"/>
            <c:spPr>
              <a:solidFill>
                <a:srgbClr val="F2A541"/>
              </a:solidFill>
              <a:ln>
                <a:solidFill>
                  <a:srgbClr val="F2A541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94.9</c:v>
                </c:pt>
                <c:pt idx="1">
                  <c:v>93.7</c:v>
                </c:pt>
                <c:pt idx="2">
                  <c:v>95.8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Nhân sự</c:v>
                </c:pt>
              </c:strCache>
            </c:strRef>
          </c:tx>
          <c:spPr>
            <a:ln w="31750">
              <a:solidFill>
                <a:srgbClr val="5B8DB8"/>
              </a:solidFill>
            </a:ln>
          </c:spPr>
          <c:marker>
            <c:symbol val="circle"/>
            <c:size val="7"/>
            <c:spPr>
              <a:solidFill>
                <a:srgbClr val="5B8DB8"/>
              </a:solidFill>
              <a:ln>
                <a:solidFill>
                  <a:srgbClr val="5B8DB8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97.8</c:v>
                </c:pt>
                <c:pt idx="1">
                  <c:v>96.4</c:v>
                </c:pt>
                <c:pt idx="2">
                  <c:v>97.5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Mục tiêu 95%</c:v>
                </c:pt>
              </c:strCache>
            </c:strRef>
          </c:tx>
          <c:spPr>
            <a:ln w="22225">
              <a:solidFill>
                <a:srgbClr val="5F6F73"/>
              </a:solidFill>
              <a:prstDash val="dash"/>
            </a:ln>
          </c:spPr>
          <c:marker>
            <c:symbol val="none"/>
            <c:size val="7"/>
            <c:spPr>
              <a:solidFill>
                <a:srgbClr val="5F6F73"/>
              </a:solidFill>
              <a:ln>
                <a:solidFill>
                  <a:srgbClr val="5F6F73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88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E2A2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Tài liệu mới theo tháng (tệp)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Kinh doanh</c:v>
                </c:pt>
              </c:strCache>
            </c:strRef>
          </c:tx>
          <c:spPr>
            <a:solidFill>
              <a:srgbClr val="C8553D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21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24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 · 89 tệp</c:v>
                </c:pt>
                <c:pt idx="1">
                  <c:v>Tháng 8 · 97 tệp</c:v>
                </c:pt>
                <c:pt idx="2">
                  <c:v>Tháng 9 · 110 tệp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21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Kỹ thuật</c:v>
                </c:pt>
              </c:strCache>
            </c:strRef>
          </c:tx>
          <c:spPr>
            <a:solidFill>
              <a:srgbClr val="1B6F6A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35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38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 · 89 tệp</c:v>
                </c:pt>
                <c:pt idx="1">
                  <c:v>Tháng 8 · 97 tệp</c:v>
                </c:pt>
                <c:pt idx="2">
                  <c:v>Tháng 9 · 110 tệp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35</c:v>
                </c:pt>
                <c:pt idx="2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F2A541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29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 · 89 tệp</c:v>
                </c:pt>
                <c:pt idx="1">
                  <c:v>Tháng 8 · 97 tệp</c:v>
                </c:pt>
                <c:pt idx="2">
                  <c:v>Tháng 9 · 110 tệp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26</c:v>
                </c:pt>
                <c:pt idx="1">
                  <c:v>29</c:v>
                </c:pt>
                <c:pt idx="2">
                  <c:v>33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Nhân sự</c:v>
                </c:pt>
              </c:strCache>
            </c:strRef>
          </c:tx>
          <c:spPr>
            <a:solidFill>
              <a:srgbClr val="5B8DB8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0" i="0" lang="vi-VN">
                        <a:solidFill>
                          <a:srgbClr val="FFFFFF"/>
                        </a:solidFill>
                        <a:latin typeface="Arial"/>
                      </a:rP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 · 89 tệp</c:v>
                </c:pt>
                <c:pt idx="1">
                  <c:v>Tháng 8 · 97 tệp</c:v>
                </c:pt>
                <c:pt idx="2">
                  <c:v>Tháng 9 · 110 tệp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14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E2A2E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Doanh số theo tháng (triệu đồng)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số</c:v>
                </c:pt>
              </c:strCache>
            </c:strRef>
          </c:tx>
          <c:spPr>
            <a:solidFill>
              <a:srgbClr val="1B6F6A"/>
            </a:solidFill>
          </c:spPr>
          <c:dPt>
            <c:idx val="0"/>
            <c:spPr>
              <a:solidFill>
                <a:srgbClr val="9FC9C3"/>
              </a:solidFill>
            </c:spPr>
          </c:dPt>
          <c:dPt>
            <c:idx val="1"/>
            <c:spPr>
              <a:solidFill>
                <a:srgbClr val="2F8F86"/>
              </a:solidFill>
            </c:spPr>
          </c:dPt>
          <c:dPt>
            <c:idx val="2"/>
            <c:spPr>
              <a:solidFill>
                <a:srgbClr val="1B6F6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1.240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9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1.385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11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1.610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14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1240</c:v>
                </c:pt>
                <c:pt idx="1">
                  <c:v>1385</c:v>
                </c:pt>
                <c:pt idx="2">
                  <c:v>1610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  <c:min val="0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[&gt;=1000]#\.##0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thống nhất với file Bảng KPI mẫu theo phòng ban (Excel).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Toàn công ty đạt mục tiêu hoàn thành và quá hạn; Kinh doanh kéo trung bình xuống.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Tô màu theo ngưỡng trong Từ điển chỉ số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80%. Kỹ thuật và Nhân sự vượt cả 3 tháng; Kinh doanh dưới 70% hai tháng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Ngưỡng cảnh báo 8%, ngưỡng xử lý ngay 12%. Trong ngoặc là số công việc quá hạn.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Tỷ lệ chấm công = số ngày có check-in / (sĩ số × ngày làm việc).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Tài liệu mới = số tệp tải lên trong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 thẻ Doanh số / Deal thắng trên trang Báo cáo &amp; Phân tích.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Nhãn mức độ dùng đúng nhãn của Trợ lý phân tích nội bộ trên web-app.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Cấu trúc theo Kế hoạch hành động của Trợ lý phân tích: hành động, ưu tiên, tác động kỳ vọng, công sức.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9692640" cy="173736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 lang="vi-VN">
                <a:solidFill>
                  <a:srgbClr val="FFFFFF"/>
                </a:solidFill>
                <a:latin typeface="Arial"/>
              </a:rPr>
              <a:t>Báo cáo KPI quý III/2026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 lang="vi-VN">
                <a:solidFill>
                  <a:srgbClr val="CFE3DF"/>
                </a:solidFill>
                <a:latin typeface="Arial"/>
              </a:rPr>
              <a:t>Kinh doanh, Kỹ thuật, Marketing, Nhân sự — trình Ban giám đốc</a:t>
            </a:r>
          </a:p>
        </p:txBody>
      </p:sp>
      <p:sp>
        <p:nvSpPr>
          <p:cNvPr id="6" name="Huy hiệu SME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vi-VN">
                <a:solidFill>
                  <a:srgbClr val="12343B"/>
                </a:solidFill>
                <a:latin typeface="Arial"/>
              </a:rPr>
              <a:t>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Công ty Demo 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B9CFCB"/>
                </a:solidFill>
                <a:latin typeface="Arial"/>
              </a:rPr>
              <a:t>Dự án Hệ thống báo cáo KPI · 26/10/2026 · Toàn bộ số liệu là số liệu minh hoạ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2</a:t>
            </a:fld>
          </a:p>
        </p:txBody>
      </p:sp>
      <p:sp>
        <p:nvSpPr>
          <p:cNvPr id="5" name="Mục 1"/>
          <p:cNvSpPr/>
          <p:nvPr/>
        </p:nvSpPr>
        <p:spPr>
          <a:xfrm>
            <a:off x="548640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Tổng quan quý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4 con số chính và bảng điểm phòng ban</a:t>
            </a:r>
          </a:p>
        </p:txBody>
      </p:sp>
      <p:sp>
        <p:nvSpPr>
          <p:cNvPr id="8" name="Mục 2"/>
          <p:cNvSpPr/>
          <p:nvPr/>
        </p:nvSpPr>
        <p:spPr>
          <a:xfrm>
            <a:off x="548640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uy hiệu 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Hoàn thành công việc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Theo phòng ban và theo tháng</a:t>
            </a:r>
          </a:p>
        </p:txBody>
      </p:sp>
      <p:sp>
        <p:nvSpPr>
          <p:cNvPr id="11" name="Mục 3"/>
          <p:cNvSpPr/>
          <p:nvPr/>
        </p:nvSpPr>
        <p:spPr>
          <a:xfrm>
            <a:off x="548640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uy hiệu 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Công việc quá hạn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Bản đồ nhiệt theo ngưỡng cảnh báo</a:t>
            </a:r>
          </a:p>
        </p:txBody>
      </p:sp>
      <p:sp>
        <p:nvSpPr>
          <p:cNvPr id="14" name="Mục 4"/>
          <p:cNvSpPr/>
          <p:nvPr/>
        </p:nvSpPr>
        <p:spPr>
          <a:xfrm>
            <a:off x="6278727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4"/>
          <p:cNvSpPr/>
          <p:nvPr/>
        </p:nvSpPr>
        <p:spPr>
          <a:xfrm>
            <a:off x="6507327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Chấm công và hoạt động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Tỷ lệ chấm công, thành viên hoạt động</a:t>
            </a:r>
          </a:p>
        </p:txBody>
      </p:sp>
      <p:sp>
        <p:nvSpPr>
          <p:cNvPr id="17" name="Mục 5"/>
          <p:cNvSpPr/>
          <p:nvPr/>
        </p:nvSpPr>
        <p:spPr>
          <a:xfrm>
            <a:off x="6278727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5"/>
          <p:cNvSpPr/>
          <p:nvPr/>
        </p:nvSpPr>
        <p:spPr>
          <a:xfrm>
            <a:off x="6507327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Tài liệu và doanh số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Khối lượng tài liệu, doanh số, deal thắng</a:t>
            </a:r>
          </a:p>
        </p:txBody>
      </p:sp>
      <p:sp>
        <p:nvSpPr>
          <p:cNvPr id="20" name="Mục 6"/>
          <p:cNvSpPr/>
          <p:nvPr/>
        </p:nvSpPr>
        <p:spPr>
          <a:xfrm>
            <a:off x="6278727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y hiệu 6"/>
          <p:cNvSpPr/>
          <p:nvPr/>
        </p:nvSpPr>
        <p:spPr>
          <a:xfrm>
            <a:off x="6507327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Nổi bật, rủi ro, đề xuất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Kế hoạch hành động quý IV/2026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Tổng quan quý III/2026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3</a:t>
            </a:fld>
          </a:p>
        </p:txBody>
      </p:sp>
      <p:sp>
        <p:nvSpPr>
          <p:cNvPr id="5" name="Chỉ số Tỷ lệ hoàn thành"/>
          <p:cNvSpPr/>
          <p:nvPr/>
        </p:nvSpPr>
        <p:spPr>
          <a:xfrm>
            <a:off x="548640" y="1371600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2202103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80,4%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2202103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Tỷ lệ hoàn thành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407 / 506 công việc · mục tiêu ≥ 80%</a:t>
            </a:r>
          </a:p>
        </p:txBody>
      </p:sp>
      <p:sp>
        <p:nvSpPr>
          <p:cNvPr id="8" name="Chỉ số Công việc quá hạn"/>
          <p:cNvSpPr/>
          <p:nvPr/>
        </p:nvSpPr>
        <p:spPr>
          <a:xfrm>
            <a:off x="3390823" y="1371600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3703" y="1481328"/>
            <a:ext cx="2202103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703" y="2267712"/>
            <a:ext cx="2202103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Công việc quá hạn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7,5% tổng công việc · ngưỡng 8%</a:t>
            </a:r>
          </a:p>
        </p:txBody>
      </p:sp>
      <p:sp>
        <p:nvSpPr>
          <p:cNvPr id="11" name="Chỉ số Doanh số (triệu đồng)"/>
          <p:cNvSpPr/>
          <p:nvPr/>
        </p:nvSpPr>
        <p:spPr>
          <a:xfrm>
            <a:off x="6233007" y="1371600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1481328"/>
            <a:ext cx="2202103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4.235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267712"/>
            <a:ext cx="2202103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Doanh số (triệu đồng)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34 deal thắng trong quý</a:t>
            </a:r>
          </a:p>
        </p:txBody>
      </p:sp>
      <p:sp>
        <p:nvSpPr>
          <p:cNvPr id="14" name="Chỉ số Trường hợp bất thường"/>
          <p:cNvSpPr/>
          <p:nvPr/>
        </p:nvSpPr>
        <p:spPr>
          <a:xfrm>
            <a:off x="9075191" y="1371600"/>
            <a:ext cx="2567863" cy="19202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8071" y="1481328"/>
            <a:ext cx="2202103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C8553D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071" y="2267712"/>
            <a:ext cx="2202103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Trường hợp bất thường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Do tính năng Phát hiện bất thường gắn cờ</a:t>
            </a:r>
          </a:p>
        </p:txBody>
      </p:sp>
      <p:sp>
        <p:nvSpPr>
          <p:cNvPr id="17" name="Thẻ Nguồn số liệu"/>
          <p:cNvSpPr/>
          <p:nvPr/>
        </p:nvSpPr>
        <p:spPr>
          <a:xfrm>
            <a:off x="548640" y="3566160"/>
            <a:ext cx="6507327" cy="25603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767328"/>
            <a:ext cx="610499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Nguồn số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70248"/>
            <a:ext cx="6104991" cy="1655063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Báo cáo &amp; Phân tích: công việc, tài liệu, thành viên hoạt động, lọc theo phòng ban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Phát hiện bất thường: hoàn thành, quá hạn, chấm công của từng nhân viên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Thẻ Doanh số / Deal thắng: từ phân hệ Khách hàng và Kho</a:t>
            </a:r>
          </a:p>
        </p:txBody>
      </p:sp>
      <p:sp>
        <p:nvSpPr>
          <p:cNvPr id="20" name="Khối chú giải màu"/>
          <p:cNvSpPr/>
          <p:nvPr/>
        </p:nvSpPr>
        <p:spPr>
          <a:xfrm>
            <a:off x="7330287" y="3566160"/>
            <a:ext cx="4312767" cy="25603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1455" y="3749039"/>
            <a:ext cx="3910431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Cách đọc màu</a:t>
            </a:r>
          </a:p>
        </p:txBody>
      </p:sp>
      <p:sp>
        <p:nvSpPr>
          <p:cNvPr id="22" name="Màu Đạt mục tiêu"/>
          <p:cNvSpPr/>
          <p:nvPr/>
        </p:nvSpPr>
        <p:spPr>
          <a:xfrm>
            <a:off x="7531455" y="429768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DFF0E5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3247" y="4261104"/>
            <a:ext cx="3306927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Đạt mục tiêu</a:t>
            </a:r>
          </a:p>
        </p:txBody>
      </p:sp>
      <p:sp>
        <p:nvSpPr>
          <p:cNvPr id="24" name="Màu Cần theo dõi"/>
          <p:cNvSpPr/>
          <p:nvPr/>
        </p:nvSpPr>
        <p:spPr>
          <a:xfrm>
            <a:off x="7531455" y="48463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FDF1DC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3247" y="4809744"/>
            <a:ext cx="3306927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Cần theo dõi</a:t>
            </a:r>
          </a:p>
        </p:txBody>
      </p:sp>
      <p:sp>
        <p:nvSpPr>
          <p:cNvPr id="26" name="Màu Cần xử lý ngay"/>
          <p:cNvSpPr/>
          <p:nvPr/>
        </p:nvSpPr>
        <p:spPr>
          <a:xfrm>
            <a:off x="7531455" y="53949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F8E1DB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3247" y="5358384"/>
            <a:ext cx="3306927" cy="438912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Cần xử lý ngay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Bảng điểm phòng ban quý III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4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68680"/>
                <a:gridCol w="1143000"/>
                <a:gridCol w="1234440"/>
                <a:gridCol w="1417320"/>
                <a:gridCol w="1005840"/>
                <a:gridCol w="1325880"/>
                <a:gridCol w="1417320"/>
                <a:gridCol w="944575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Phòng ban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Sĩ số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Công việc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Tỷ lệ hoàn thành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Quá hạn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Tỷ lệ quá hạn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Tỷ lệ chấm công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Bất thường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93,0%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96,7%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94,8%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Nhân sự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97,3%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Toàn công ty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95,3%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8F1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56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Dòng Toàn công ty bằng tổng 4 phòng ban; tỷ lệ chấm công toàn công ty = tổng ngày có check-in / (28 người × 64 ngày làm việc). Số liệu minh hoạ.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Tỷ lệ hoàn thành công việc theo phòng ban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5</a:t>
            </a:fld>
          </a:p>
        </p:txBody>
      </p:sp>
      <p:graphicFrame>
        <p:nvGraphicFramePr>
          <p:cNvPr id="5" name="Biểu đồ hoàn thành"/>
          <p:cNvGraphicFramePr>
            <a:graphicFrameLocks noGrp="1"/>
          </p:cNvGraphicFramePr>
          <p:nvPr/>
        </p:nvGraphicFramePr>
        <p:xfrm>
          <a:off x="54864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hẻ Nhận xét"/>
          <p:cNvSpPr/>
          <p:nvPr/>
        </p:nvSpPr>
        <p:spPr>
          <a:xfrm>
            <a:off x="8138160" y="1371600"/>
            <a:ext cx="3504895" cy="45720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8" y="1572768"/>
            <a:ext cx="310255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Nhận xét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2075688"/>
            <a:ext cx="3102559" cy="36667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8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Kỹ thuật (87,4%) và Nhân sự (88,3%) vượt mục tiêu cả 3 tháng</a:t>
            </a:r>
          </a:p>
          <a:p>
            <a:pPr algn="l" marL="228600" indent="-177800">
              <a:spcAft>
                <a:spcPts val="8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Kinh doanh thấp nhất nhưng tăng đều: 65,2% → 67,3% → 73,5%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Marketing dao động quanh ngưỡng: 78,6%, 76,5%, 80,6%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Tỷ lệ công việc quá hạn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6</a:t>
            </a:fld>
          </a:p>
        </p:txBody>
      </p:sp>
      <p:graphicFrame>
        <p:nvGraphicFramePr>
          <p:cNvPr id="5" name="Bản đồ nhiệt quá hạn"/>
          <p:cNvGraphicFramePr>
            <a:graphicFrameLocks noGrp="1"/>
          </p:cNvGraphicFramePr>
          <p:nvPr/>
        </p:nvGraphicFramePr>
        <p:xfrm>
          <a:off x="548640" y="1371600"/>
          <a:ext cx="77724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08760"/>
                <a:gridCol w="1508760"/>
                <a:gridCol w="1508760"/>
                <a:gridCol w="1508760"/>
              </a:tblGrid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Phòng ban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7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8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9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Cả quý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15,2% (7)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15,4% (8)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10,2% (5)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13,6% (20)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4,7% (3)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2,9% (2)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2,8% (2)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3,4% (7)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10,7% (3)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11,8% (4)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6,5% (2)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9,7% (9)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Nhân sự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5,6% (1)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5,0% (1)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0,0% (0)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3,3% (2)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</a:tbl>
          </a:graphicData>
        </a:graphic>
      </p:graphicFrame>
      <p:sp>
        <p:nvSpPr>
          <p:cNvPr id="6" name="Thẻ Ngưỡng"/>
          <p:cNvSpPr/>
          <p:nvPr/>
        </p:nvSpPr>
        <p:spPr>
          <a:xfrm>
            <a:off x="8595360" y="1371600"/>
            <a:ext cx="3047695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6528" y="1572768"/>
            <a:ext cx="264535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Ngưỡng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2075688"/>
            <a:ext cx="2645359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Đạt: ≤ 8%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Cần theo dõi: trên 8% đến 12%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Cần xử lý ngay: trên 12%</a:t>
            </a:r>
          </a:p>
        </p:txBody>
      </p:sp>
      <p:sp>
        <p:nvSpPr>
          <p:cNvPr id="9" name="Thẻ Điểm chính"/>
          <p:cNvSpPr/>
          <p:nvPr/>
        </p:nvSpPr>
        <p:spPr>
          <a:xfrm>
            <a:off x="8595360" y="3749039"/>
            <a:ext cx="3047695" cy="224028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3950207"/>
            <a:ext cx="264535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Điểm chính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53127"/>
            <a:ext cx="2645359" cy="133502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Kinh doanh vượt 12% hai tháng đầu; tháng 9 giảm còn 10,2% nhưng vẫn trên ngưỡng 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Tỷ lệ quá hạn = công việc quá hạn / tổng công việc. Số liệu minh hoạ.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Tỷ lệ chấm công theo tháng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7</a:t>
            </a:fld>
          </a:p>
        </p:txBody>
      </p:sp>
      <p:graphicFrame>
        <p:nvGraphicFramePr>
          <p:cNvPr id="5" name="Biểu đồ chấm công"/>
          <p:cNvGraphicFramePr>
            <a:graphicFrameLocks noGrp="1"/>
          </p:cNvGraphicFramePr>
          <p:nvPr/>
        </p:nvGraphicFramePr>
        <p:xfrm>
          <a:off x="54864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Bảng"/>
          <p:cNvGraphicFramePr>
            <a:graphicFrameLocks noGrp="1"/>
          </p:cNvGraphicFramePr>
          <p:nvPr/>
        </p:nvGraphicFramePr>
        <p:xfrm>
          <a:off x="8138160" y="1371600"/>
          <a:ext cx="35048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Phòng ban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Cả quý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93,0%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96,7%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94,8%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Nhân sự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97,3%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Toàn công 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95,3%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4297680"/>
            <a:ext cx="3504895" cy="14630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Kinh doanh và Marketing dưới mục tiêu 95%; đây là 2 phòng có nhiều nhân viên làm việc ngoài văn phòng.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806440"/>
            <a:ext cx="3504895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Ngày làm việc: 23, 21, 20 ngày (trừ 01–02/09). Số liệu minh hoạ.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Tài liệu mới và thành viên hoạt động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8</a:t>
            </a:fld>
          </a:p>
        </p:txBody>
      </p:sp>
      <p:graphicFrame>
        <p:nvGraphicFramePr>
          <p:cNvPr id="5" name="Biểu đồ tài liệu"/>
          <p:cNvGraphicFramePr>
            <a:graphicFrameLocks noGrp="1"/>
          </p:cNvGraphicFramePr>
          <p:nvPr/>
        </p:nvGraphicFramePr>
        <p:xfrm>
          <a:off x="548640" y="1371600"/>
          <a:ext cx="60350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371600"/>
            <a:ext cx="4785055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Thành viên hoạt động / sĩ số</a:t>
            </a:r>
          </a:p>
        </p:txBody>
      </p:sp>
      <p:graphicFrame>
        <p:nvGraphicFramePr>
          <p:cNvPr id="7" name="Bảng"/>
          <p:cNvGraphicFramePr>
            <a:graphicFrameLocks noGrp="1"/>
          </p:cNvGraphicFramePr>
          <p:nvPr/>
        </p:nvGraphicFramePr>
        <p:xfrm>
          <a:off x="6858000" y="1828800"/>
          <a:ext cx="47850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535"/>
                <a:gridCol w="1005840"/>
                <a:gridCol w="1005840"/>
                <a:gridCol w="100584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Phòng ban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7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8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Tháng 9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7/8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8/8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8/8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Kỹ thuật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5/6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6/6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6/6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Nhân sự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4/4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4/4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4/4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</a:tbl>
          </a:graphicData>
        </a:graphic>
      </p:graphicFrame>
      <p:sp>
        <p:nvSpPr>
          <p:cNvPr id="8" name="Thẻ Nhận xét"/>
          <p:cNvSpPr/>
          <p:nvPr/>
        </p:nvSpPr>
        <p:spPr>
          <a:xfrm>
            <a:off x="6858000" y="4343400"/>
            <a:ext cx="4785055" cy="16002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4544568"/>
            <a:ext cx="438271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Nhận xét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5047488"/>
            <a:ext cx="4382719" cy="6949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296 tệp mới trong quý; Kỹ thuật nhiều nhất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Từ tháng 8, mọi thành viên đều hoạt động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Doanh số và deal thắng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9</a:t>
            </a:fld>
          </a:p>
        </p:txBody>
      </p:sp>
      <p:graphicFrame>
        <p:nvGraphicFramePr>
          <p:cNvPr id="5" name="Biểu đồ doanh số"/>
          <p:cNvGraphicFramePr>
            <a:graphicFrameLocks noGrp="1"/>
          </p:cNvGraphicFramePr>
          <p:nvPr/>
        </p:nvGraphicFramePr>
        <p:xfrm>
          <a:off x="548640" y="1371600"/>
          <a:ext cx="66751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Chỉ số Doanh số cả quý"/>
          <p:cNvSpPr/>
          <p:nvPr/>
        </p:nvSpPr>
        <p:spPr>
          <a:xfrm>
            <a:off x="7498079" y="137160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48132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 lang="vi-VN">
                <a:solidFill>
                  <a:srgbClr val="1B6F6A"/>
                </a:solidFill>
                <a:latin typeface="Arial"/>
              </a:rPr>
              <a:t>4.235 triệu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26771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Doanh số cả quý</a:t>
            </a:r>
          </a:p>
        </p:txBody>
      </p:sp>
      <p:sp>
        <p:nvSpPr>
          <p:cNvPr id="9" name="Chỉ số Tháng 9 so với tháng 7"/>
          <p:cNvSpPr/>
          <p:nvPr/>
        </p:nvSpPr>
        <p:spPr>
          <a:xfrm>
            <a:off x="7498079" y="2944368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3054096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 lang="vi-VN">
                <a:solidFill>
                  <a:srgbClr val="1B6F6A"/>
                </a:solidFill>
                <a:latin typeface="Arial"/>
              </a:rPr>
              <a:t>+29,8%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840479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Tháng 9 so với tháng 7</a:t>
            </a:r>
          </a:p>
        </p:txBody>
      </p:sp>
      <p:sp>
        <p:nvSpPr>
          <p:cNvPr id="12" name="Chỉ số Giá trị trung bình 1 deal"/>
          <p:cNvSpPr/>
          <p:nvPr/>
        </p:nvSpPr>
        <p:spPr>
          <a:xfrm>
            <a:off x="7498079" y="4526280"/>
            <a:ext cx="4144975" cy="141732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4636008"/>
            <a:ext cx="377921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200" b="1" i="0" lang="vi-VN">
                <a:solidFill>
                  <a:srgbClr val="1B6F6A"/>
                </a:solidFill>
                <a:latin typeface="Arial"/>
              </a:rPr>
              <a:t>124,6 triệu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5422392"/>
            <a:ext cx="3779215" cy="41147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Giá trị trung bình 1 deal thắng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Điểm nổi bật và rủi ro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10</a:t>
            </a:fld>
          </a:p>
        </p:txBody>
      </p:sp>
      <p:sp>
        <p:nvSpPr>
          <p:cNvPr id="5" name="Thẻ Điểm tích cực"/>
          <p:cNvSpPr/>
          <p:nvPr/>
        </p:nvSpPr>
        <p:spPr>
          <a:xfrm>
            <a:off x="548640" y="1371600"/>
            <a:ext cx="4206240" cy="4709160"/>
          </a:xfrm>
          <a:prstGeom prst="roundRect">
            <a:avLst>
              <a:gd name="adj" fmla="val 6000"/>
            </a:avLst>
          </a:prstGeom>
          <a:solidFill>
            <a:srgbClr val="D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3803903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Điểm tích cực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3803903" cy="380390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8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Kỹ thuật: hoàn thành 87,4%, quá hạn chỉ 3,4%</a:t>
            </a:r>
          </a:p>
          <a:p>
            <a:pPr algn="l" marL="228600" indent="-177800">
              <a:spcAft>
                <a:spcPts val="8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Nhân sự: hoàn thành 88,3%, chấm công 97,3%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Doanh số tăng liên tục 3 tháng, tháng 9 đạt 1.610 triệu</a:t>
            </a:r>
          </a:p>
        </p:txBody>
      </p:sp>
      <p:sp>
        <p:nvSpPr>
          <p:cNvPr id="8" name="Rủi ro 1"/>
          <p:cNvSpPr/>
          <p:nvPr/>
        </p:nvSpPr>
        <p:spPr>
          <a:xfrm>
            <a:off x="5029199" y="1371600"/>
            <a:ext cx="6613855" cy="10515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ức Cần xử lý ngay"/>
          <p:cNvSpPr/>
          <p:nvPr/>
        </p:nvSpPr>
        <p:spPr>
          <a:xfrm>
            <a:off x="5212079" y="1673352"/>
            <a:ext cx="1828800" cy="457200"/>
          </a:xfrm>
          <a:prstGeom prst="roundRect">
            <a:avLst>
              <a:gd name="adj" fmla="val 40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 lang="vi-VN">
                <a:solidFill>
                  <a:srgbClr val="FFFFFF"/>
                </a:solidFill>
                <a:latin typeface="Arial"/>
              </a:rPr>
              <a:t>Cần xử lý ngay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79" y="1463040"/>
            <a:ext cx="4190695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Kinh doanh: hoàn thành 68,7%, quá hạn 13,6% cả quý</a:t>
            </a:r>
          </a:p>
        </p:txBody>
      </p:sp>
      <p:sp>
        <p:nvSpPr>
          <p:cNvPr id="11" name="Rủi ro 2"/>
          <p:cNvSpPr/>
          <p:nvPr/>
        </p:nvSpPr>
        <p:spPr>
          <a:xfrm>
            <a:off x="5029199" y="2587752"/>
            <a:ext cx="6613855" cy="10515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ức Cần theo dõi"/>
          <p:cNvSpPr/>
          <p:nvPr/>
        </p:nvSpPr>
        <p:spPr>
          <a:xfrm>
            <a:off x="5212079" y="2889504"/>
            <a:ext cx="182880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 lang="vi-VN">
                <a:solidFill>
                  <a:srgbClr val="12343B"/>
                </a:solidFill>
                <a:latin typeface="Arial"/>
              </a:rPr>
              <a:t>Cần theo dõi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679192"/>
            <a:ext cx="4190695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Marketing: hoàn thành 78,5%, quá hạn 9,7%</a:t>
            </a:r>
          </a:p>
        </p:txBody>
      </p:sp>
      <p:sp>
        <p:nvSpPr>
          <p:cNvPr id="14" name="Rủi ro 3"/>
          <p:cNvSpPr/>
          <p:nvPr/>
        </p:nvSpPr>
        <p:spPr>
          <a:xfrm>
            <a:off x="5029199" y="3803904"/>
            <a:ext cx="6613855" cy="10515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ức Cần theo dõi"/>
          <p:cNvSpPr/>
          <p:nvPr/>
        </p:nvSpPr>
        <p:spPr>
          <a:xfrm>
            <a:off x="5212079" y="4105656"/>
            <a:ext cx="182880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 lang="vi-VN">
                <a:solidFill>
                  <a:srgbClr val="12343B"/>
                </a:solidFill>
                <a:latin typeface="Arial"/>
              </a:rPr>
              <a:t>Cần theo dõi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3895344"/>
            <a:ext cx="4190695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Chấm công Kinh doanh 93,0%, Marketing 94,8%, dưới mục tiêu 95%</a:t>
            </a:r>
          </a:p>
        </p:txBody>
      </p:sp>
      <p:sp>
        <p:nvSpPr>
          <p:cNvPr id="17" name="Rủi ro 4"/>
          <p:cNvSpPr/>
          <p:nvPr/>
        </p:nvSpPr>
        <p:spPr>
          <a:xfrm>
            <a:off x="5029199" y="5020056"/>
            <a:ext cx="6613855" cy="10515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ức Cần theo dõi"/>
          <p:cNvSpPr/>
          <p:nvPr/>
        </p:nvSpPr>
        <p:spPr>
          <a:xfrm>
            <a:off x="5212079" y="5321808"/>
            <a:ext cx="1828800" cy="457200"/>
          </a:xfrm>
          <a:prstGeom prst="roundRect">
            <a:avLst>
              <a:gd name="adj" fmla="val 4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 lang="vi-VN">
                <a:solidFill>
                  <a:srgbClr val="12343B"/>
                </a:solidFill>
                <a:latin typeface="Arial"/>
              </a:rPr>
              <a:t>Cần theo dõi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5111496"/>
            <a:ext cx="4190695" cy="86868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0" i="0" lang="vi-VN">
                <a:solidFill>
                  <a:srgbClr val="1E2A2E"/>
                </a:solidFill>
                <a:latin typeface="Arial"/>
              </a:rPr>
              <a:t>5 trường hợp bất thường: Kinh doanh 2, Kỹ thuật 2, Marketing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Đề xuất kế hoạch hành động quý IV/2026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11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097280"/>
                <a:gridCol w="2240280"/>
                <a:gridCol w="2331720"/>
                <a:gridCol w="944575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Hành động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Ưu tiên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Phụ trách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Tác động kỳ vọng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Công sức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Rà soát hạn công việc Kinh doanh mỗi tuần, chia lại việc đang dồn vào 1 người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Trưởng phòng Kinh doanh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Quá hạn dưới 8% cuối quý IV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Thấp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Chuẩn hoá mẫu báo giá, catalogue dùng chung để rút ngắn bước Đề xuất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Kinh doanh, Marketing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Hoàn thành từ 80% trở lên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Vừa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Nhắc chấm công qua ứng dụng di động cho nhân viên đi thị trường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Vừa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Phòng Nhân sự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Chấm công từ 95% trở lên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Thấp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Chốt hạn chiến dịch theo tháng, hạn chế việc phát sinh giữa kỳ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Vừa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Trưởng phòng Marketing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Quá hạn không quá 8%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Vừa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Chạy Phát hiện bất thường đầu mỗi tháng, trao đổi riêng từng trường hợp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Thấp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Quản lý các phòng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Phát hiện sớm rủi ro nhân sự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Thấp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88720"/>
            <a:ext cx="10728655" cy="10972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800" b="1" i="0" lang="vi-VN">
                <a:solidFill>
                  <a:srgbClr val="FFFFFF"/>
                </a:solidFill>
                <a:latin typeface="Arial"/>
              </a:rPr>
              <a:t>Kết luận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12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Toàn công ty đạt mục tiêu: hoàn thành 80,4%, quá hạn 7,5%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Kinh doanh là điểm nghẽn: cần xử lý ngay quá hạn và tỷ lệ hoàn thành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Doanh số tăng 29,8% từ tháng 7 đến tháng 9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Đề nghị phê duyệt 5 hành động cho quý IV/2026</a:t>
            </a:r>
          </a:p>
        </p:txBody>
      </p:sp>
      <p:sp>
        <p:nvSpPr>
          <p:cNvPr id="6" name="Khối liên hệ"/>
          <p:cNvSpPr/>
          <p:nvPr/>
        </p:nvSpPr>
        <p:spPr>
          <a:xfrm>
            <a:off x="8549640" y="2514600"/>
            <a:ext cx="3090672" cy="2926080"/>
          </a:xfrm>
          <a:prstGeom prst="roundRect">
            <a:avLst>
              <a:gd name="adj" fmla="val 6000"/>
            </a:avLst>
          </a:prstGeom>
          <a:solidFill>
            <a:srgbClr val="1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69748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Tài liệu kèm theo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Bảng KPI mẫu theo phòng ban (Excel).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Từ điển chỉ số KPI và cách tính.</a:t>
            </a:r>
          </a:p>
          <a:p>
            <a:pPr algn="l">
              <a:spcAft>
                <a:spcPts val="600"/>
              </a:spcAft>
            </a:pPr>
            <a:r>
              <a:rPr sz="1400" b="0" i="1" lang="vi-VN">
                <a:solidFill>
                  <a:srgbClr val="DCEBE8"/>
                </a:solidFill>
                <a:latin typeface="Arial"/>
              </a:rPr>
              <a:t>Toàn bộ số liệu là số liệu minh hoạ.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 S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E8F1EF"/>
      </a:lt2>
      <a:accent1>
        <a:srgbClr val="1B6F6A"/>
      </a:accent1>
      <a:accent2>
        <a:srgbClr val="F2A541"/>
      </a:accent2>
      <a:accent3>
        <a:srgbClr val="5B8DB8"/>
      </a:accent3>
      <a:accent4>
        <a:srgbClr val="C8553D"/>
      </a:accent4>
      <a:accent5>
        <a:srgbClr val="2E8B57"/>
      </a:accent5>
      <a:accent6>
        <a:srgbClr val="8E7CC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KPI quý III/2026</dc:title>
  <dc:subject>Dự án Hệ thống báo cáo KPI — báo cáo cho Ban giám đốc (số liệu minh hoạ)</dc:subject>
  <dc:creator>Công ty Demo SME</dc:creator>
  <cp:keywords>ECAP; Công ty Demo SME; minh hoạ đồ án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